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1" r:id="rId1"/>
  </p:sldMasterIdLst>
  <p:notesMasterIdLst>
    <p:notesMasterId r:id="rId8"/>
  </p:notesMasterIdLst>
  <p:sldIdLst>
    <p:sldId id="565" r:id="rId2"/>
    <p:sldId id="556" r:id="rId3"/>
    <p:sldId id="563" r:id="rId4"/>
    <p:sldId id="562" r:id="rId5"/>
    <p:sldId id="564" r:id="rId6"/>
    <p:sldId id="561" r:id="rId7"/>
  </p:sldIdLst>
  <p:sldSz cx="9906000" cy="6858000" type="A4"/>
  <p:notesSz cx="6797675" cy="9926638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b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b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b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b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b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b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b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b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b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931">
          <p15:clr>
            <a:srgbClr val="A4A3A4"/>
          </p15:clr>
        </p15:guide>
        <p15:guide id="2" orient="horz" pos="2769">
          <p15:clr>
            <a:srgbClr val="A4A3A4"/>
          </p15:clr>
        </p15:guide>
        <p15:guide id="3" orient="horz" pos="3113">
          <p15:clr>
            <a:srgbClr val="A4A3A4"/>
          </p15:clr>
        </p15:guide>
        <p15:guide id="4" orient="horz" pos="3748">
          <p15:clr>
            <a:srgbClr val="A4A3A4"/>
          </p15:clr>
        </p15:guide>
        <p15:guide id="5" orient="horz" pos="2626">
          <p15:clr>
            <a:srgbClr val="A4A3A4"/>
          </p15:clr>
        </p15:guide>
        <p15:guide id="6" orient="horz" pos="1207">
          <p15:clr>
            <a:srgbClr val="A4A3A4"/>
          </p15:clr>
        </p15:guide>
        <p15:guide id="7" orient="horz" pos="890">
          <p15:clr>
            <a:srgbClr val="A4A3A4"/>
          </p15:clr>
        </p15:guide>
        <p15:guide id="8" orient="horz" pos="3914">
          <p15:clr>
            <a:srgbClr val="A4A3A4"/>
          </p15:clr>
        </p15:guide>
        <p15:guide id="9" pos="3144">
          <p15:clr>
            <a:srgbClr val="A4A3A4"/>
          </p15:clr>
        </p15:guide>
        <p15:guide id="10" pos="377">
          <p15:clr>
            <a:srgbClr val="A4A3A4"/>
          </p15:clr>
        </p15:guide>
        <p15:guide id="11" pos="6020">
          <p15:clr>
            <a:srgbClr val="A4A3A4"/>
          </p15:clr>
        </p15:guide>
        <p15:guide id="12" pos="3260">
          <p15:clr>
            <a:srgbClr val="A4A3A4"/>
          </p15:clr>
        </p15:guide>
        <p15:guide id="13" pos="526">
          <p15:clr>
            <a:srgbClr val="A4A3A4"/>
          </p15:clr>
        </p15:guide>
        <p15:guide id="14" pos="609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0000FF"/>
    <a:srgbClr val="3333FF"/>
    <a:srgbClr val="000066"/>
    <a:srgbClr val="F5F5F5"/>
    <a:srgbClr val="E6E6E6"/>
    <a:srgbClr val="660033"/>
    <a:srgbClr val="FFFFCC"/>
    <a:srgbClr val="CCFFFF"/>
    <a:srgbClr val="CC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D083AE6-46FA-4A59-8FB0-9F97EB10719F}" styleName="밝은 스타일 3 - 강조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85BE263C-DBD7-4A20-BB59-AAB30ACAA65A}" styleName="보통 스타일 3 - 강조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221" autoAdjust="0"/>
    <p:restoredTop sz="94662" autoAdjust="0"/>
  </p:normalViewPr>
  <p:slideViewPr>
    <p:cSldViewPr snapToGrid="0" showGuides="1">
      <p:cViewPr varScale="1">
        <p:scale>
          <a:sx n="110" d="100"/>
          <a:sy n="110" d="100"/>
        </p:scale>
        <p:origin x="1806" y="96"/>
      </p:cViewPr>
      <p:guideLst>
        <p:guide orient="horz" pos="2931"/>
        <p:guide orient="horz" pos="2769"/>
        <p:guide orient="horz" pos="3113"/>
        <p:guide orient="horz" pos="3748"/>
        <p:guide orient="horz" pos="2626"/>
        <p:guide orient="horz" pos="1207"/>
        <p:guide orient="horz" pos="890"/>
        <p:guide orient="horz" pos="3914"/>
        <p:guide pos="3144"/>
        <p:guide pos="377"/>
        <p:guide pos="6020"/>
        <p:guide pos="3260"/>
        <p:guide pos="526"/>
        <p:guide pos="6098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46400" cy="4999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774" tIns="46886" rIns="93774" bIns="46886" numCol="1" anchor="t" anchorCtr="0" compatLnSpc="1">
            <a:prstTxWarp prst="textNoShape">
              <a:avLst/>
            </a:prstTxWarp>
          </a:bodyPr>
          <a:lstStyle>
            <a:lvl1pPr defTabSz="936471">
              <a:defRPr sz="1100" b="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276" y="1"/>
            <a:ext cx="2944813" cy="4999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774" tIns="46886" rIns="93774" bIns="46886" numCol="1" anchor="t" anchorCtr="0" compatLnSpc="1">
            <a:prstTxWarp prst="textNoShape">
              <a:avLst/>
            </a:prstTxWarp>
          </a:bodyPr>
          <a:lstStyle>
            <a:lvl1pPr algn="r" defTabSz="936471">
              <a:defRPr sz="1100" b="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22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09613" y="739775"/>
            <a:ext cx="5376862" cy="37242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1" y="4712535"/>
            <a:ext cx="5438775" cy="44744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774" tIns="46886" rIns="93774" bIns="4688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235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6656"/>
            <a:ext cx="2946400" cy="4983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774" tIns="46886" rIns="93774" bIns="46886" numCol="1" anchor="b" anchorCtr="0" compatLnSpc="1">
            <a:prstTxWarp prst="textNoShape">
              <a:avLst/>
            </a:prstTxWarp>
          </a:bodyPr>
          <a:lstStyle>
            <a:lvl1pPr defTabSz="936471">
              <a:defRPr sz="1100" b="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35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276" y="9426656"/>
            <a:ext cx="2944813" cy="4983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774" tIns="46886" rIns="93774" bIns="46886" numCol="1" anchor="b" anchorCtr="0" compatLnSpc="1">
            <a:prstTxWarp prst="textNoShape">
              <a:avLst/>
            </a:prstTxWarp>
          </a:bodyPr>
          <a:lstStyle>
            <a:lvl1pPr algn="r" defTabSz="936471">
              <a:defRPr sz="1100" b="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fld id="{AB874474-C128-4EEA-BC99-DB46730E071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10528325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243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0244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377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706" indent="-285656" defTabSz="95377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2623" indent="-228526" defTabSz="95377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599673" indent="-228526" defTabSz="95377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6722" indent="-228526" defTabSz="95377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3771" indent="-228526" defTabSz="95377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0820" indent="-228526" defTabSz="95377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7870" indent="-228526" defTabSz="95377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4919" indent="-228526" defTabSz="95377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0"/>
              </a:spcBef>
            </a:pPr>
            <a:fld id="{F4AF42AF-6964-46D2-8908-29177509BCE2}" type="slidenum">
              <a:rPr lang="ko-KR" altLang="en-US" b="1" smtClean="0"/>
              <a:pPr eaLnBrk="1" hangingPunct="1">
                <a:spcBef>
                  <a:spcPct val="0"/>
                </a:spcBef>
              </a:pPr>
              <a:t>2</a:t>
            </a:fld>
            <a:endParaRPr lang="en-US" altLang="ko-KR" b="1"/>
          </a:p>
        </p:txBody>
      </p:sp>
    </p:spTree>
    <p:extLst>
      <p:ext uri="{BB962C8B-B14F-4D97-AF65-F5344CB8AC3E}">
        <p14:creationId xmlns:p14="http://schemas.microsoft.com/office/powerpoint/2010/main" val="3817702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243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0244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377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706" indent="-285656" defTabSz="95377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2623" indent="-228526" defTabSz="95377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599673" indent="-228526" defTabSz="95377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6722" indent="-228526" defTabSz="95377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3771" indent="-228526" defTabSz="95377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0820" indent="-228526" defTabSz="95377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7870" indent="-228526" defTabSz="95377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4919" indent="-228526" defTabSz="95377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0"/>
              </a:spcBef>
            </a:pPr>
            <a:fld id="{F4AF42AF-6964-46D2-8908-29177509BCE2}" type="slidenum">
              <a:rPr lang="ko-KR" altLang="en-US" b="1" smtClean="0"/>
              <a:pPr eaLnBrk="1" hangingPunct="1">
                <a:spcBef>
                  <a:spcPct val="0"/>
                </a:spcBef>
              </a:pPr>
              <a:t>3</a:t>
            </a:fld>
            <a:endParaRPr lang="en-US" altLang="ko-KR" b="1"/>
          </a:p>
        </p:txBody>
      </p:sp>
    </p:spTree>
    <p:extLst>
      <p:ext uri="{BB962C8B-B14F-4D97-AF65-F5344CB8AC3E}">
        <p14:creationId xmlns:p14="http://schemas.microsoft.com/office/powerpoint/2010/main" val="3817702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243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0244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377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706" indent="-285656" defTabSz="95377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2623" indent="-228526" defTabSz="95377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599673" indent="-228526" defTabSz="95377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6722" indent="-228526" defTabSz="95377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3771" indent="-228526" defTabSz="95377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0820" indent="-228526" defTabSz="95377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7870" indent="-228526" defTabSz="95377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4919" indent="-228526" defTabSz="95377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0"/>
              </a:spcBef>
            </a:pPr>
            <a:fld id="{F4AF42AF-6964-46D2-8908-29177509BCE2}" type="slidenum">
              <a:rPr lang="ko-KR" altLang="en-US" b="1" smtClean="0"/>
              <a:pPr eaLnBrk="1" hangingPunct="1">
                <a:spcBef>
                  <a:spcPct val="0"/>
                </a:spcBef>
              </a:pPr>
              <a:t>4</a:t>
            </a:fld>
            <a:endParaRPr lang="en-US" altLang="ko-KR" b="1"/>
          </a:p>
        </p:txBody>
      </p:sp>
    </p:spTree>
    <p:extLst>
      <p:ext uri="{BB962C8B-B14F-4D97-AF65-F5344CB8AC3E}">
        <p14:creationId xmlns:p14="http://schemas.microsoft.com/office/powerpoint/2010/main" val="3817702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243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0244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377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706" indent="-285656" defTabSz="95377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2623" indent="-228526" defTabSz="95377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599673" indent="-228526" defTabSz="95377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6722" indent="-228526" defTabSz="95377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3771" indent="-228526" defTabSz="95377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0820" indent="-228526" defTabSz="95377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7870" indent="-228526" defTabSz="95377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4919" indent="-228526" defTabSz="95377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0"/>
              </a:spcBef>
            </a:pPr>
            <a:fld id="{F4AF42AF-6964-46D2-8908-29177509BCE2}" type="slidenum">
              <a:rPr lang="ko-KR" altLang="en-US" b="1" smtClean="0"/>
              <a:pPr eaLnBrk="1" hangingPunct="1">
                <a:spcBef>
                  <a:spcPct val="0"/>
                </a:spcBef>
              </a:pPr>
              <a:t>5</a:t>
            </a:fld>
            <a:endParaRPr lang="en-US" altLang="ko-KR" b="1"/>
          </a:p>
        </p:txBody>
      </p:sp>
    </p:spTree>
    <p:extLst>
      <p:ext uri="{BB962C8B-B14F-4D97-AF65-F5344CB8AC3E}">
        <p14:creationId xmlns:p14="http://schemas.microsoft.com/office/powerpoint/2010/main" val="3817702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243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0244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377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706" indent="-285656" defTabSz="95377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2623" indent="-228526" defTabSz="95377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599673" indent="-228526" defTabSz="95377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6722" indent="-228526" defTabSz="95377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3771" indent="-228526" defTabSz="95377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0820" indent="-228526" defTabSz="95377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7870" indent="-228526" defTabSz="95377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4919" indent="-228526" defTabSz="95377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0"/>
              </a:spcBef>
            </a:pPr>
            <a:fld id="{F4AF42AF-6964-46D2-8908-29177509BCE2}" type="slidenum">
              <a:rPr lang="ko-KR" altLang="en-US" b="1" smtClean="0"/>
              <a:pPr eaLnBrk="1" hangingPunct="1">
                <a:spcBef>
                  <a:spcPct val="0"/>
                </a:spcBef>
              </a:pPr>
              <a:t>6</a:t>
            </a:fld>
            <a:endParaRPr lang="en-US" altLang="ko-KR" b="1"/>
          </a:p>
        </p:txBody>
      </p:sp>
    </p:spTree>
    <p:extLst>
      <p:ext uri="{BB962C8B-B14F-4D97-AF65-F5344CB8AC3E}">
        <p14:creationId xmlns:p14="http://schemas.microsoft.com/office/powerpoint/2010/main" val="3817702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621F3B-B054-4591-A8C6-F7C26AAE370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3452917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10"/>
          <p:cNvSpPr>
            <a:spLocks noChangeShapeType="1"/>
          </p:cNvSpPr>
          <p:nvPr/>
        </p:nvSpPr>
        <p:spPr bwMode="auto">
          <a:xfrm>
            <a:off x="273050" y="703262"/>
            <a:ext cx="9299575" cy="1587"/>
          </a:xfrm>
          <a:prstGeom prst="line">
            <a:avLst/>
          </a:prstGeom>
          <a:noFill/>
          <a:ln w="25400">
            <a:solidFill>
              <a:schemeClr val="bg1">
                <a:lumMod val="50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1" name="제목 1"/>
          <p:cNvSpPr>
            <a:spLocks noGrp="1"/>
          </p:cNvSpPr>
          <p:nvPr userDrawn="1">
            <p:ph type="ctrTitle"/>
          </p:nvPr>
        </p:nvSpPr>
        <p:spPr>
          <a:xfrm>
            <a:off x="454918" y="116632"/>
            <a:ext cx="6730330" cy="506486"/>
          </a:xfrm>
        </p:spPr>
        <p:txBody>
          <a:bodyPr/>
          <a:lstStyle>
            <a:lvl1pPr algn="l">
              <a:defRPr sz="2600">
                <a:latin typeface="현대하모니 M" pitchFamily="18" charset="-127"/>
                <a:ea typeface="현대하모니 M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2" name="부제목 2"/>
          <p:cNvSpPr>
            <a:spLocks noGrp="1"/>
          </p:cNvSpPr>
          <p:nvPr userDrawn="1">
            <p:ph type="subTitle" idx="1"/>
          </p:nvPr>
        </p:nvSpPr>
        <p:spPr>
          <a:xfrm>
            <a:off x="590550" y="980728"/>
            <a:ext cx="3146274" cy="360040"/>
          </a:xfrm>
        </p:spPr>
        <p:txBody>
          <a:bodyPr/>
          <a:lstStyle>
            <a:lvl1pPr marL="0" indent="0" algn="l">
              <a:buNone/>
              <a:defRPr sz="1600">
                <a:solidFill>
                  <a:schemeClr val="tx1">
                    <a:tint val="75000"/>
                  </a:schemeClr>
                </a:solidFill>
                <a:latin typeface="현대하모니 M" pitchFamily="18" charset="-127"/>
                <a:ea typeface="현대하모니 M" pitchFamily="18" charset="-127"/>
              </a:defRPr>
            </a:lvl1pPr>
            <a:lvl2pPr marL="4789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578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367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156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3945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8735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3524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8313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8" name="슬라이드 번호 개체 틀 5"/>
          <p:cNvSpPr>
            <a:spLocks noGrp="1"/>
          </p:cNvSpPr>
          <p:nvPr userDrawn="1">
            <p:ph type="sldNum" sz="quarter" idx="10"/>
          </p:nvPr>
        </p:nvSpPr>
        <p:spPr>
          <a:xfrm>
            <a:off x="9300519" y="6494463"/>
            <a:ext cx="605481" cy="363537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현대하모니 M" pitchFamily="18" charset="-127"/>
                <a:ea typeface="현대하모니 M" pitchFamily="18" charset="-127"/>
              </a:defRPr>
            </a:lvl1pPr>
          </a:lstStyle>
          <a:p>
            <a:pPr>
              <a:defRPr/>
            </a:pPr>
            <a:fld id="{D663A584-F192-4479-8392-23313FF1C7F1}" type="slidenum">
              <a:rPr lang="ko-KR" altLang="en-US" smtClean="0"/>
              <a:pPr>
                <a:defRPr/>
              </a:pPr>
              <a:t>‹#›</a:t>
            </a:fld>
            <a:r>
              <a:rPr lang="en-US" altLang="ko-KR" dirty="0"/>
              <a:t>/6</a:t>
            </a:r>
            <a:endParaRPr lang="ko-KR" altLang="en-US" dirty="0"/>
          </a:p>
        </p:txBody>
      </p:sp>
      <p:pic>
        <p:nvPicPr>
          <p:cNvPr id="9" name="Picture 23" descr="로고(030129) copy"/>
          <p:cNvPicPr>
            <a:picLocks noChangeAspect="1" noChangeArrowheads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71450" y="6533410"/>
            <a:ext cx="944563" cy="2595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3117960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0" y="1600200"/>
            <a:ext cx="89154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2288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95300" y="6245225"/>
            <a:ext cx="23114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2288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84550" y="6245225"/>
            <a:ext cx="31369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2288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99300" y="6245225"/>
            <a:ext cx="23114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17A3C986-FEBE-4E7A-871F-E3FA72EF1BC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78" r:id="rId1"/>
    <p:sldLayoutId id="2147484079" r:id="rId2"/>
  </p:sldLayoutIdLst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9"/>
          <p:cNvSpPr txBox="1">
            <a:spLocks noChangeArrowheads="1"/>
          </p:cNvSpPr>
          <p:nvPr/>
        </p:nvSpPr>
        <p:spPr bwMode="auto">
          <a:xfrm>
            <a:off x="4287650" y="5111756"/>
            <a:ext cx="1330701" cy="795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3447" tIns="41721" rIns="83447" bIns="41721">
            <a:spAutoFit/>
          </a:bodyPr>
          <a:lstStyle/>
          <a:p>
            <a:pPr algn="ctr" defTabSz="838200" eaLnBrk="1" latinLnBrk="1" hangingPunct="1">
              <a:spcBef>
                <a:spcPct val="20000"/>
              </a:spcBef>
            </a:pPr>
            <a:r>
              <a:rPr lang="en-US" altLang="ko-KR" sz="2100" dirty="0">
                <a:solidFill>
                  <a:srgbClr val="000000"/>
                </a:solidFill>
                <a:latin typeface="현대산스 Head Light" panose="020B0600000101010101" pitchFamily="50" charset="-127"/>
                <a:ea typeface="현대산스 Head Light" panose="020B0600000101010101" pitchFamily="50" charset="-127"/>
              </a:rPr>
              <a:t>2026.9. 1</a:t>
            </a:r>
          </a:p>
          <a:p>
            <a:pPr algn="ctr" defTabSz="838200" eaLnBrk="1" latinLnBrk="1" hangingPunct="1">
              <a:spcBef>
                <a:spcPct val="20000"/>
              </a:spcBef>
            </a:pPr>
            <a:r>
              <a:rPr lang="ko-KR" altLang="en-US" sz="2100" dirty="0" err="1">
                <a:solidFill>
                  <a:srgbClr val="000000"/>
                </a:solidFill>
                <a:latin typeface="현대산스 Head Light" panose="020B0600000101010101" pitchFamily="50" charset="-127"/>
                <a:ea typeface="현대산스 Head Light" panose="020B0600000101010101" pitchFamily="50" charset="-127"/>
              </a:rPr>
              <a:t>화성물류팀</a:t>
            </a:r>
            <a:endParaRPr lang="en-US" altLang="ko-KR" sz="2100" dirty="0">
              <a:solidFill>
                <a:srgbClr val="000000"/>
              </a:solidFill>
              <a:latin typeface="현대산스 Head Light" panose="020B0600000101010101" pitchFamily="50" charset="-127"/>
              <a:ea typeface="현대산스 Head Light" panose="020B0600000101010101" pitchFamily="50" charset="-127"/>
            </a:endParaRPr>
          </a:p>
        </p:txBody>
      </p:sp>
      <p:grpSp>
        <p:nvGrpSpPr>
          <p:cNvPr id="3" name="Group 6"/>
          <p:cNvGrpSpPr>
            <a:grpSpLocks/>
          </p:cNvGrpSpPr>
          <p:nvPr/>
        </p:nvGrpSpPr>
        <p:grpSpPr bwMode="auto">
          <a:xfrm>
            <a:off x="249238" y="2689225"/>
            <a:ext cx="9168258" cy="230188"/>
            <a:chOff x="329" y="1821"/>
            <a:chExt cx="6071" cy="0"/>
          </a:xfrm>
        </p:grpSpPr>
        <p:sp>
          <p:nvSpPr>
            <p:cNvPr id="4" name="Line 7"/>
            <p:cNvSpPr>
              <a:spLocks noChangeShapeType="1"/>
            </p:cNvSpPr>
            <p:nvPr/>
          </p:nvSpPr>
          <p:spPr bwMode="auto">
            <a:xfrm>
              <a:off x="329" y="1821"/>
              <a:ext cx="4534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Line 8"/>
            <p:cNvSpPr>
              <a:spLocks noChangeShapeType="1"/>
            </p:cNvSpPr>
            <p:nvPr/>
          </p:nvSpPr>
          <p:spPr bwMode="auto">
            <a:xfrm>
              <a:off x="4926" y="1821"/>
              <a:ext cx="1474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258934" y="2143711"/>
            <a:ext cx="8278812" cy="45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0008" tIns="40006" rIns="80008" bIns="40006">
            <a:spAutoFit/>
          </a:bodyPr>
          <a:lstStyle/>
          <a:p>
            <a:pPr defTabSz="957263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2400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  <a:t>26</a:t>
            </a:r>
            <a:r>
              <a:rPr kumimoji="1" lang="ko-KR" altLang="en-US" sz="2400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  <a:t>년 </a:t>
            </a:r>
            <a:r>
              <a:rPr kumimoji="1" lang="en-US" altLang="ko-KR" sz="2400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  <a:t>8</a:t>
            </a:r>
            <a:r>
              <a:rPr kumimoji="1" lang="ko-KR" altLang="en-US" sz="2400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  <a:t>월 화성공장 운반비 보고</a:t>
            </a:r>
          </a:p>
        </p:txBody>
      </p:sp>
      <p:pic>
        <p:nvPicPr>
          <p:cNvPr id="8" name="Picture 34" descr="7-1"/>
          <p:cNvPicPr>
            <a:picLocks noChangeAspect="1" noChangeArrowheads="1"/>
          </p:cNvPicPr>
          <p:nvPr/>
        </p:nvPicPr>
        <p:blipFill>
          <a:blip r:embed="rId2" cstate="email"/>
          <a:srcRect/>
          <a:stretch>
            <a:fillRect/>
          </a:stretch>
        </p:blipFill>
        <p:spPr bwMode="auto">
          <a:xfrm>
            <a:off x="7761315" y="260353"/>
            <a:ext cx="1858962" cy="50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2028434"/>
              </p:ext>
            </p:extLst>
          </p:nvPr>
        </p:nvGraphicFramePr>
        <p:xfrm>
          <a:off x="6059978" y="2852936"/>
          <a:ext cx="3349280" cy="9282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97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23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23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52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523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7401">
                <a:tc rowSpan="2"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ko-KR" alt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결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  <a:p>
                      <a:pPr algn="ctr" rtl="0" fontAlgn="ctr">
                        <a:lnSpc>
                          <a:spcPct val="100000"/>
                        </a:lnSpc>
                      </a:pP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ko-KR" alt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재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8063" marR="8063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ko-KR" alt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담  당</a:t>
                      </a:r>
                      <a:endParaRPr lang="en-US" altLang="ko-KR" sz="1300" b="0" i="0" u="none" strike="noStrike" dirty="0">
                        <a:solidFill>
                          <a:schemeClr val="tx1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8063" marR="8063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ko-KR" alt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팀  장</a:t>
                      </a:r>
                      <a:endParaRPr lang="en-US" altLang="ko-KR" sz="1300" b="0" i="0" u="none" strike="noStrike" dirty="0">
                        <a:solidFill>
                          <a:schemeClr val="tx1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8063" marR="8063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ko-KR" alt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상 무</a:t>
                      </a:r>
                      <a:endParaRPr lang="en-US" altLang="ko-KR" sz="1300" b="0" i="0" u="none" strike="noStrike" dirty="0">
                        <a:solidFill>
                          <a:schemeClr val="tx1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8063" marR="8063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ko-KR" alt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대  표</a:t>
                      </a:r>
                      <a:endParaRPr lang="en-US" altLang="ko-KR" sz="1300" b="0" i="0" u="none" strike="noStrike" dirty="0">
                        <a:solidFill>
                          <a:schemeClr val="tx1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8063" marR="8063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0831">
                <a:tc vMerge="1"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endParaRPr lang="ko-KR" altLang="en-US" sz="1300" b="0" i="0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8063" marR="8063" marT="8922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8063" marR="8063" marT="8922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8063" marR="8063" marT="8922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8063" marR="8063" marT="8922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46336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DBCA5B68-19D9-AC68-E139-97F3A62B33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614566"/>
              </p:ext>
            </p:extLst>
          </p:nvPr>
        </p:nvGraphicFramePr>
        <p:xfrm>
          <a:off x="5564777" y="6345282"/>
          <a:ext cx="4384527" cy="3635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5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353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※ </a:t>
                      </a:r>
                      <a:r>
                        <a:rPr lang="ko-KR" altLang="en-US" sz="9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당진 </a:t>
                      </a:r>
                      <a:r>
                        <a:rPr lang="en-US" altLang="ko-KR" sz="9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= </a:t>
                      </a:r>
                      <a:r>
                        <a:rPr lang="ko-KR" altLang="en-US" sz="9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매출 및 수량 미포함 </a:t>
                      </a:r>
                      <a:r>
                        <a:rPr lang="en-US" altLang="ko-KR" sz="9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(</a:t>
                      </a:r>
                      <a:r>
                        <a:rPr lang="ko-KR" altLang="en-US" sz="9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합계</a:t>
                      </a:r>
                      <a:r>
                        <a:rPr lang="en-US" altLang="ko-KR" sz="9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)</a:t>
                      </a:r>
                      <a:r>
                        <a:rPr lang="ko-KR" altLang="en-US" sz="9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 </a:t>
                      </a:r>
                      <a:r>
                        <a:rPr lang="en-US" altLang="ko-KR" sz="9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/ </a:t>
                      </a:r>
                      <a:r>
                        <a:rPr lang="ko-KR" altLang="en-US" sz="9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운반비 포함</a:t>
                      </a:r>
                      <a:r>
                        <a:rPr lang="en-US" altLang="ko-KR" sz="9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 , </a:t>
                      </a:r>
                      <a:r>
                        <a:rPr lang="ko-KR" altLang="en-US" sz="9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매출 실적 </a:t>
                      </a:r>
                      <a:r>
                        <a:rPr lang="en-US" altLang="ko-KR" sz="9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= </a:t>
                      </a:r>
                      <a:r>
                        <a:rPr lang="ko-KR" altLang="en-US" sz="900" baseline="0" dirty="0" err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원가팀</a:t>
                      </a:r>
                      <a:r>
                        <a:rPr lang="ko-KR" altLang="en-US" sz="9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 매출 </a:t>
                      </a:r>
                      <a:r>
                        <a:rPr lang="ko-KR" altLang="en-US" sz="900" baseline="0" dirty="0" err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가실적</a:t>
                      </a:r>
                      <a:r>
                        <a:rPr lang="ko-KR" altLang="en-US" sz="9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 기준</a:t>
                      </a:r>
                      <a:endParaRPr lang="en-US" altLang="ko-KR" sz="900" baseline="0" dirty="0">
                        <a:solidFill>
                          <a:schemeClr val="bg1">
                            <a:lumMod val="65000"/>
                          </a:schemeClr>
                        </a:solidFill>
                        <a:latin typeface="현대산스 Text" panose="020B0600000101010101" pitchFamily="50" charset="-127"/>
                        <a:ea typeface="현대산스 Text" panose="020B0600000101010101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123" name="제목 1"/>
          <p:cNvSpPr>
            <a:spLocks noGrp="1"/>
          </p:cNvSpPr>
          <p:nvPr>
            <p:ph type="ctrTitle"/>
          </p:nvPr>
        </p:nvSpPr>
        <p:spPr>
          <a:xfrm>
            <a:off x="311150" y="217488"/>
            <a:ext cx="6873875" cy="508000"/>
          </a:xfrm>
        </p:spPr>
        <p:txBody>
          <a:bodyPr/>
          <a:lstStyle/>
          <a:p>
            <a:r>
              <a:rPr lang="ko-KR" altLang="en-US" sz="2400" b="1" dirty="0">
                <a:latin typeface="현대산스 Head Light" panose="020B0600000101010101" pitchFamily="50" charset="-127"/>
                <a:ea typeface="현대산스 Head Light" panose="020B0600000101010101" pitchFamily="50" charset="-127"/>
              </a:rPr>
              <a:t>▣ </a:t>
            </a:r>
            <a:r>
              <a:rPr lang="en-US" altLang="ko-KR" sz="2400" b="1" dirty="0">
                <a:latin typeface="현대산스 Head Light" panose="020B0600000101010101" pitchFamily="50" charset="-127"/>
                <a:ea typeface="현대산스 Head Light" panose="020B0600000101010101" pitchFamily="50" charset="-127"/>
              </a:rPr>
              <a:t>26</a:t>
            </a:r>
            <a:r>
              <a:rPr lang="ko-KR" altLang="en-US" sz="2400" b="1" dirty="0">
                <a:latin typeface="현대산스 Head Light" panose="020B0600000101010101" pitchFamily="50" charset="-127"/>
                <a:ea typeface="현대산스 Head Light" panose="020B0600000101010101" pitchFamily="50" charset="-127"/>
              </a:rPr>
              <a:t>년 </a:t>
            </a:r>
            <a:r>
              <a:rPr lang="en-US" altLang="ko-KR" sz="2400" b="1" dirty="0">
                <a:latin typeface="현대산스 Head Light" panose="020B0600000101010101" pitchFamily="50" charset="-127"/>
                <a:ea typeface="현대산스 Head Light" panose="020B0600000101010101" pitchFamily="50" charset="-127"/>
              </a:rPr>
              <a:t>8</a:t>
            </a:r>
            <a:r>
              <a:rPr lang="ko-KR" altLang="en-US" sz="2400" b="1" dirty="0">
                <a:latin typeface="현대산스 Head Light" panose="020B0600000101010101" pitchFamily="50" charset="-127"/>
                <a:ea typeface="현대산스 Head Light" panose="020B0600000101010101" pitchFamily="50" charset="-127"/>
              </a:rPr>
              <a:t>월 운반비 종합</a:t>
            </a:r>
          </a:p>
        </p:txBody>
      </p:sp>
      <p:sp>
        <p:nvSpPr>
          <p:cNvPr id="16" name="Text Box 2"/>
          <p:cNvSpPr txBox="1">
            <a:spLocks noChangeArrowheads="1"/>
          </p:cNvSpPr>
          <p:nvPr/>
        </p:nvSpPr>
        <p:spPr bwMode="auto">
          <a:xfrm>
            <a:off x="8955956" y="436342"/>
            <a:ext cx="1043879" cy="2515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2000" tIns="0" rIns="0" bIns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1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현대산스 Head Light" panose="020B0600000101010101" pitchFamily="50" charset="-127"/>
                <a:ea typeface="현대산스 Head Light" panose="020B0600000101010101" pitchFamily="50" charset="-127"/>
              </a:rPr>
              <a:t>2026.9.1</a:t>
            </a: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1216212"/>
              </p:ext>
            </p:extLst>
          </p:nvPr>
        </p:nvGraphicFramePr>
        <p:xfrm>
          <a:off x="311150" y="879814"/>
          <a:ext cx="9276986" cy="3822420"/>
        </p:xfrm>
        <a:graphic>
          <a:graphicData uri="http://schemas.openxmlformats.org/drawingml/2006/table">
            <a:tbl>
              <a:tblPr/>
              <a:tblGrid>
                <a:gridCol w="86979">
                  <a:extLst>
                    <a:ext uri="{9D8B030D-6E8A-4147-A177-3AD203B41FA5}">
                      <a16:colId xmlns:a16="http://schemas.microsoft.com/office/drawing/2014/main" val="3216441957"/>
                    </a:ext>
                  </a:extLst>
                </a:gridCol>
                <a:gridCol w="883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9127">
                  <a:extLst>
                    <a:ext uri="{9D8B030D-6E8A-4147-A177-3AD203B41FA5}">
                      <a16:colId xmlns:a16="http://schemas.microsoft.com/office/drawing/2014/main" val="3478692865"/>
                    </a:ext>
                  </a:extLst>
                </a:gridCol>
                <a:gridCol w="519127">
                  <a:extLst>
                    <a:ext uri="{9D8B030D-6E8A-4147-A177-3AD203B41FA5}">
                      <a16:colId xmlns:a16="http://schemas.microsoft.com/office/drawing/2014/main" val="1955845251"/>
                    </a:ext>
                  </a:extLst>
                </a:gridCol>
                <a:gridCol w="519127">
                  <a:extLst>
                    <a:ext uri="{9D8B030D-6E8A-4147-A177-3AD203B41FA5}">
                      <a16:colId xmlns:a16="http://schemas.microsoft.com/office/drawing/2014/main" val="589898450"/>
                    </a:ext>
                  </a:extLst>
                </a:gridCol>
                <a:gridCol w="519127">
                  <a:extLst>
                    <a:ext uri="{9D8B030D-6E8A-4147-A177-3AD203B41FA5}">
                      <a16:colId xmlns:a16="http://schemas.microsoft.com/office/drawing/2014/main" val="2149818228"/>
                    </a:ext>
                  </a:extLst>
                </a:gridCol>
                <a:gridCol w="519127">
                  <a:extLst>
                    <a:ext uri="{9D8B030D-6E8A-4147-A177-3AD203B41FA5}">
                      <a16:colId xmlns:a16="http://schemas.microsoft.com/office/drawing/2014/main" val="702860525"/>
                    </a:ext>
                  </a:extLst>
                </a:gridCol>
                <a:gridCol w="519127">
                  <a:extLst>
                    <a:ext uri="{9D8B030D-6E8A-4147-A177-3AD203B41FA5}">
                      <a16:colId xmlns:a16="http://schemas.microsoft.com/office/drawing/2014/main" val="4239940291"/>
                    </a:ext>
                  </a:extLst>
                </a:gridCol>
                <a:gridCol w="519127">
                  <a:extLst>
                    <a:ext uri="{9D8B030D-6E8A-4147-A177-3AD203B41FA5}">
                      <a16:colId xmlns:a16="http://schemas.microsoft.com/office/drawing/2014/main" val="925190902"/>
                    </a:ext>
                  </a:extLst>
                </a:gridCol>
                <a:gridCol w="519127">
                  <a:extLst>
                    <a:ext uri="{9D8B030D-6E8A-4147-A177-3AD203B41FA5}">
                      <a16:colId xmlns:a16="http://schemas.microsoft.com/office/drawing/2014/main" val="3602601836"/>
                    </a:ext>
                  </a:extLst>
                </a:gridCol>
                <a:gridCol w="519127">
                  <a:extLst>
                    <a:ext uri="{9D8B030D-6E8A-4147-A177-3AD203B41FA5}">
                      <a16:colId xmlns:a16="http://schemas.microsoft.com/office/drawing/2014/main" val="1631794144"/>
                    </a:ext>
                  </a:extLst>
                </a:gridCol>
                <a:gridCol w="519127">
                  <a:extLst>
                    <a:ext uri="{9D8B030D-6E8A-4147-A177-3AD203B41FA5}">
                      <a16:colId xmlns:a16="http://schemas.microsoft.com/office/drawing/2014/main" val="2335632996"/>
                    </a:ext>
                  </a:extLst>
                </a:gridCol>
                <a:gridCol w="519127">
                  <a:extLst>
                    <a:ext uri="{9D8B030D-6E8A-4147-A177-3AD203B41FA5}">
                      <a16:colId xmlns:a16="http://schemas.microsoft.com/office/drawing/2014/main" val="1715060273"/>
                    </a:ext>
                  </a:extLst>
                </a:gridCol>
                <a:gridCol w="519127">
                  <a:extLst>
                    <a:ext uri="{9D8B030D-6E8A-4147-A177-3AD203B41FA5}">
                      <a16:colId xmlns:a16="http://schemas.microsoft.com/office/drawing/2014/main" val="4035777514"/>
                    </a:ext>
                  </a:extLst>
                </a:gridCol>
                <a:gridCol w="519127">
                  <a:extLst>
                    <a:ext uri="{9D8B030D-6E8A-4147-A177-3AD203B41FA5}">
                      <a16:colId xmlns:a16="http://schemas.microsoft.com/office/drawing/2014/main" val="1192296267"/>
                    </a:ext>
                  </a:extLst>
                </a:gridCol>
                <a:gridCol w="519127">
                  <a:extLst>
                    <a:ext uri="{9D8B030D-6E8A-4147-A177-3AD203B41FA5}">
                      <a16:colId xmlns:a16="http://schemas.microsoft.com/office/drawing/2014/main" val="1359481178"/>
                    </a:ext>
                  </a:extLst>
                </a:gridCol>
                <a:gridCol w="519127">
                  <a:extLst>
                    <a:ext uri="{9D8B030D-6E8A-4147-A177-3AD203B41FA5}">
                      <a16:colId xmlns:a16="http://schemas.microsoft.com/office/drawing/2014/main" val="2918826379"/>
                    </a:ext>
                  </a:extLst>
                </a:gridCol>
                <a:gridCol w="519127">
                  <a:extLst>
                    <a:ext uri="{9D8B030D-6E8A-4147-A177-3AD203B41FA5}">
                      <a16:colId xmlns:a16="http://schemas.microsoft.com/office/drawing/2014/main" val="2334232454"/>
                    </a:ext>
                  </a:extLst>
                </a:gridCol>
              </a:tblGrid>
              <a:tr h="170350">
                <a:tc rowSpan="2"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 err="1">
                          <a:effectLst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납품처</a:t>
                      </a:r>
                      <a:endParaRPr lang="ko-KR" altLang="en-US" sz="1100" b="1" i="0" u="none" strike="noStrike" dirty="0">
                        <a:effectLst/>
                        <a:latin typeface="현대산스 Text" panose="020B0600000101010101" pitchFamily="50" charset="-127"/>
                        <a:ea typeface="현대산스 Text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 err="1">
                          <a:effectLst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월계획</a:t>
                      </a:r>
                      <a:r>
                        <a:rPr lang="ko-KR" altLang="en-US" sz="1100" b="1" i="0" u="none" strike="noStrike" dirty="0">
                          <a:effectLst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 </a:t>
                      </a:r>
                      <a:r>
                        <a:rPr lang="en-US" altLang="ko-KR" sz="1100" b="1" i="0" u="none" strike="noStrike" dirty="0">
                          <a:effectLst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(</a:t>
                      </a:r>
                      <a:r>
                        <a:rPr lang="en-US" sz="1100" b="1" i="0" u="none" strike="noStrike" dirty="0">
                          <a:effectLst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A)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effectLst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실적 </a:t>
                      </a:r>
                      <a:r>
                        <a:rPr lang="en-US" altLang="ko-KR" sz="1100" b="1" i="0" u="none" strike="noStrike" dirty="0">
                          <a:effectLst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(</a:t>
                      </a:r>
                      <a:r>
                        <a:rPr lang="en-US" sz="1100" b="1" i="0" u="none" strike="noStrike" dirty="0">
                          <a:effectLst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B)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effectLst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실적 </a:t>
                      </a:r>
                      <a:r>
                        <a:rPr lang="en-US" altLang="ko-KR" sz="1100" b="1" i="0" u="none" strike="noStrike" dirty="0">
                          <a:effectLst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- </a:t>
                      </a:r>
                      <a:r>
                        <a:rPr lang="ko-KR" altLang="en-US" sz="1100" b="1" i="0" u="none" strike="noStrike" dirty="0" err="1">
                          <a:effectLst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월계획</a:t>
                      </a:r>
                      <a:r>
                        <a:rPr lang="ko-KR" altLang="en-US" sz="1100" b="1" i="0" u="none" strike="noStrike" dirty="0">
                          <a:effectLst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 </a:t>
                      </a:r>
                      <a:r>
                        <a:rPr lang="en-US" altLang="ko-KR" sz="1100" b="1" i="0" u="none" strike="noStrike" dirty="0">
                          <a:effectLst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(</a:t>
                      </a:r>
                      <a:r>
                        <a:rPr lang="en-US" sz="1100" b="1" i="0" u="none" strike="noStrike" dirty="0">
                          <a:effectLst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B-A)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effectLst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운반비 실적 평균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2992879"/>
                  </a:ext>
                </a:extLst>
              </a:tr>
              <a:tr h="340699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effectLst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수량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effectLst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운반비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effectLst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대당 </a:t>
                      </a:r>
                      <a:endParaRPr lang="en-US" altLang="ko-KR" sz="1100" b="1" i="0" u="none" strike="noStrike" dirty="0">
                        <a:effectLst/>
                        <a:latin typeface="현대산스 Text" panose="020B0600000101010101" pitchFamily="50" charset="-127"/>
                        <a:ea typeface="현대산스 Text" panose="020B0600000101010101" pitchFamily="50" charset="-127"/>
                      </a:endParaRPr>
                    </a:p>
                    <a:p>
                      <a:pPr algn="ctr" fontAlgn="ctr"/>
                      <a:r>
                        <a:rPr lang="ko-KR" altLang="en-US" sz="1100" b="1" i="0" u="none" strike="noStrike" dirty="0">
                          <a:effectLst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운반비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effectLst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수량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effectLst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운반비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effectLst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대당 </a:t>
                      </a:r>
                      <a:endParaRPr lang="en-US" altLang="ko-KR" sz="1100" b="1" i="0" u="none" strike="noStrike" dirty="0">
                        <a:effectLst/>
                        <a:latin typeface="현대산스 Text" panose="020B0600000101010101" pitchFamily="50" charset="-127"/>
                        <a:ea typeface="현대산스 Text" panose="020B0600000101010101" pitchFamily="50" charset="-127"/>
                      </a:endParaRPr>
                    </a:p>
                    <a:p>
                      <a:pPr algn="ctr" fontAlgn="ctr"/>
                      <a:r>
                        <a:rPr lang="ko-KR" altLang="en-US" sz="1100" b="1" i="0" u="none" strike="noStrike" dirty="0">
                          <a:effectLst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운반비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effectLst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수량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effectLst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운반비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대당 </a:t>
                      </a:r>
                      <a:endParaRPr lang="en-US" altLang="ko-KR" sz="1100" b="1" i="0" u="none" strike="noStrike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현대산스 Text" panose="020B0600000101010101" pitchFamily="50" charset="-127"/>
                        <a:ea typeface="현대산스 Text" panose="020B0600000101010101" pitchFamily="50" charset="-127"/>
                      </a:endParaRPr>
                    </a:p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운반비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effectLst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3</a:t>
                      </a:r>
                      <a:r>
                        <a:rPr lang="ko-KR" altLang="en-US" sz="1100" b="1" i="0" u="none" strike="noStrike" dirty="0">
                          <a:effectLst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개월</a:t>
                      </a:r>
                      <a:endParaRPr lang="en-US" altLang="ko-KR" sz="1100" b="1" i="0" u="none" strike="noStrike" dirty="0">
                        <a:effectLst/>
                        <a:latin typeface="현대산스 Text" panose="020B0600000101010101" pitchFamily="50" charset="-127"/>
                        <a:ea typeface="현대산스 Text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effectLst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6</a:t>
                      </a:r>
                      <a:r>
                        <a:rPr lang="ko-KR" altLang="en-US" sz="1100" b="1" i="0" u="none" strike="noStrike" dirty="0">
                          <a:effectLst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개월</a:t>
                      </a:r>
                      <a:endParaRPr lang="en-US" altLang="ko-KR" sz="1100" b="1" i="0" u="none" strike="noStrike" dirty="0">
                        <a:effectLst/>
                        <a:latin typeface="현대산스 Text" panose="020B0600000101010101" pitchFamily="50" charset="-127"/>
                        <a:ea typeface="현대산스 Text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effectLst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12</a:t>
                      </a:r>
                      <a:r>
                        <a:rPr lang="ko-KR" altLang="en-US" sz="1100" b="1" i="0" u="none" strike="noStrike" dirty="0">
                          <a:effectLst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개월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effectLst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25</a:t>
                      </a:r>
                      <a:r>
                        <a:rPr lang="ko-KR" altLang="en-US" sz="1100" b="1" i="0" u="none" strike="noStrike" dirty="0">
                          <a:effectLst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154130"/>
                  </a:ext>
                </a:extLst>
              </a:tr>
              <a:tr h="150554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 err="1">
                          <a:effectLst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글로비스</a:t>
                      </a:r>
                      <a:endParaRPr lang="ko-KR" altLang="en-US" sz="1100" b="1" i="0" u="none" strike="noStrike" dirty="0">
                        <a:effectLst/>
                        <a:latin typeface="현대산스 Text" panose="020B0600000101010101" pitchFamily="50" charset="-127"/>
                        <a:ea typeface="현대산스 Text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 dirty="0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15,152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1,578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 dirty="0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104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 dirty="0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14,782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1,766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119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 dirty="0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-370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-2.4%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188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11.9%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15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14.7%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 dirty="0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1,748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1,593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1,524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1,444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1530055"/>
                  </a:ext>
                </a:extLst>
              </a:tr>
              <a:tr h="17035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세정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7,458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 dirty="0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1,518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204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2,247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635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283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-5,211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-69.9%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-883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-58.2%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79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38.9%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 dirty="0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1,504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 dirty="0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1,662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1,519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1,270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4584105"/>
                  </a:ext>
                </a:extLst>
              </a:tr>
              <a:tr h="17035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rgbClr val="0000FF"/>
                          </a:solidFill>
                          <a:effectLst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광주</a:t>
                      </a:r>
                      <a:r>
                        <a:rPr lang="en-US" altLang="ko-KR" sz="1100" b="1" i="0" u="none" strike="noStrike" dirty="0">
                          <a:solidFill>
                            <a:srgbClr val="0000FF"/>
                          </a:solidFill>
                          <a:effectLst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/</a:t>
                      </a:r>
                      <a:r>
                        <a:rPr lang="ko-KR" altLang="en-US" sz="1100" b="1" i="0" u="none" strike="noStrike" dirty="0">
                          <a:solidFill>
                            <a:srgbClr val="0000FF"/>
                          </a:solidFill>
                          <a:effectLst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전주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 dirty="0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7,847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 dirty="0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4,950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 dirty="0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631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 dirty="0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8,928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 dirty="0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3,102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 dirty="0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347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 dirty="0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1,081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 dirty="0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13.8%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 dirty="0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-1,848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 dirty="0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-37.3%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 dirty="0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-283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 dirty="0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-44.9%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4,163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 dirty="0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3,272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2,261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1,179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1824739"/>
                  </a:ext>
                </a:extLst>
              </a:tr>
              <a:tr h="17035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effectLst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기아 광명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14,005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 dirty="0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3,635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260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13,251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3,605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272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-754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-5.4%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-30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-0.8%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13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4.8%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4,106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 dirty="0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2,448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2,271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2,412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2826651"/>
                  </a:ext>
                </a:extLst>
              </a:tr>
              <a:tr h="17035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effectLst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현대 아산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46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254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5,522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0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b="0" i="0" u="none" strike="noStrike" dirty="0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0 </a:t>
                      </a:r>
                      <a:endParaRPr lang="ko-KR" sz="1100" b="0" i="0" u="none" strike="noStrike" dirty="0">
                        <a:effectLst/>
                        <a:latin typeface="Arial Narrow" panose="020B0606020202030204" pitchFamily="34" charset="0"/>
                        <a:ea typeface="굴림체" panose="020B0609000101010101" pitchFamily="49" charset="-127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 dirty="0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#DIV/0!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-46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-100.0%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-254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-100.0%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#DIV/0!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b="0" i="0" u="none" strike="noStrike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#DIV/0!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339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381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 dirty="0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445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455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3933470"/>
                  </a:ext>
                </a:extLst>
              </a:tr>
              <a:tr h="17035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포레시아</a:t>
                      </a:r>
                      <a:r>
                        <a:rPr lang="ko-KR" altLang="en-US" sz="1100" b="1" i="0" u="none" strike="noStrike" dirty="0">
                          <a:solidFill>
                            <a:srgbClr val="0000FF"/>
                          </a:solidFill>
                          <a:effectLst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 장안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 dirty="0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7,469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 dirty="0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1,971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 dirty="0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264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 dirty="0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5,603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 dirty="0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608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 dirty="0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109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 dirty="0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-1,866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 dirty="0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-25.0%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 dirty="0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-1,363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 dirty="0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-69.2%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 dirty="0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-155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 dirty="0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-58.9%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 dirty="0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1,064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 dirty="0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811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 dirty="0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697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 dirty="0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698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9075268"/>
                  </a:ext>
                </a:extLst>
              </a:tr>
              <a:tr h="17035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effectLst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당진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11,287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2,415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214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11,571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3,059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 dirty="0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264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 dirty="0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284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2.5%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 dirty="0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644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 dirty="0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26.7%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50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23.6%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3,910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3,726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 dirty="0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3,634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 dirty="0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3,475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8243143"/>
                  </a:ext>
                </a:extLst>
              </a:tr>
              <a:tr h="17035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위아</a:t>
                      </a:r>
                      <a:r>
                        <a:rPr lang="ko-KR" alt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 서산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4,966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3,654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736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3,070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2,697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879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-1,896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-38.2%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-957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-26.2%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143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19.4%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 dirty="0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4,597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4,647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 dirty="0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4,513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4,771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4550347"/>
                  </a:ext>
                </a:extLst>
              </a:tr>
              <a:tr h="17035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 err="1">
                          <a:solidFill>
                            <a:srgbClr val="FF0000"/>
                          </a:solidFill>
                          <a:effectLst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위아</a:t>
                      </a:r>
                      <a:r>
                        <a:rPr lang="ko-KR" altLang="en-US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 평택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1,686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 dirty="0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848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503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816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 dirty="0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848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1,039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-870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-51.6%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 dirty="0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　</a:t>
                      </a:r>
                      <a:r>
                        <a:rPr lang="en-US" altLang="ko-KR" sz="1100" b="0" i="0" u="none" strike="noStrike" dirty="0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0</a:t>
                      </a:r>
                      <a:endParaRPr lang="ko-KR" sz="1100" b="0" i="0" u="none" strike="noStrike" dirty="0">
                        <a:effectLst/>
                        <a:latin typeface="Arial Narrow" panose="020B0606020202030204" pitchFamily="34" charset="0"/>
                        <a:ea typeface="굴림체" panose="020B0609000101010101" pitchFamily="49" charset="-127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 dirty="0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0.0%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536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106.6%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1,166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1,943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2,217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2,482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6925087"/>
                  </a:ext>
                </a:extLst>
              </a:tr>
              <a:tr h="170350">
                <a:tc rowSpan="4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effectLst/>
                        <a:latin typeface="현대산스 Text" panose="020B0600000101010101" pitchFamily="50" charset="-127"/>
                        <a:ea typeface="현대산스 Text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 err="1">
                          <a:effectLst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포레시아영천</a:t>
                      </a:r>
                      <a:endParaRPr lang="ko-KR" altLang="en-US" sz="1100" b="0" i="0" u="none" strike="noStrike" dirty="0">
                        <a:effectLst/>
                        <a:latin typeface="현대산스 Text" panose="020B0600000101010101" pitchFamily="50" charset="-127"/>
                        <a:ea typeface="현대산스 Text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13,706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5,852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 dirty="0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427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10,329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3,736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362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-3,377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-24.6%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 dirty="0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-2,117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-36.2%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-65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-15.3%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7,078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7,468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7,609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 dirty="0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8,124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401497"/>
                  </a:ext>
                </a:extLst>
              </a:tr>
              <a:tr h="170350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effectLst/>
                        <a:latin typeface="현대산스 Text" panose="020B0600000101010101" pitchFamily="50" charset="-127"/>
                        <a:ea typeface="현대산스 Text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effectLst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세종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15,929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8,841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 dirty="0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555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10,554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2,197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208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-5,375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-33.7%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-6,644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-75.2%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-347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-62.5%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4,162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4,808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5,612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5,924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4796516"/>
                  </a:ext>
                </a:extLst>
              </a:tr>
              <a:tr h="170350">
                <a:tc vMerge="1"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effectLst/>
                        <a:latin typeface="현대산스 Text" panose="020B0600000101010101" pitchFamily="50" charset="-127"/>
                        <a:ea typeface="현대산스 Text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effectLst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현대 울산</a:t>
                      </a:r>
                      <a:endParaRPr lang="en-US" altLang="ko-KR" sz="1100" b="0" i="0" u="none" strike="noStrike" dirty="0">
                        <a:effectLst/>
                        <a:latin typeface="현대산스 Text" panose="020B0600000101010101" pitchFamily="50" charset="-127"/>
                        <a:ea typeface="현대산스 Text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5,658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4,215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 dirty="0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745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3,783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2,095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554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-1,875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-33.1%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-2,120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-50.3%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-191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 dirty="0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-25.7%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5,824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4,493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4,019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 dirty="0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3,401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8191259"/>
                  </a:ext>
                </a:extLst>
              </a:tr>
              <a:tr h="170350">
                <a:tc vMerge="1"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effectLst/>
                        <a:latin typeface="현대산스 Text" panose="020B0600000101010101" pitchFamily="50" charset="-127"/>
                        <a:ea typeface="현대산스 Text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rgbClr val="0000FF"/>
                          </a:solidFill>
                          <a:effectLst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영남권</a:t>
                      </a:r>
                      <a:endParaRPr lang="en-US" altLang="ko-KR" sz="1100" b="1" i="0" u="none" strike="noStrike" dirty="0">
                        <a:solidFill>
                          <a:srgbClr val="0000FF"/>
                        </a:solidFill>
                        <a:effectLst/>
                        <a:latin typeface="현대산스 Text" panose="020B0600000101010101" pitchFamily="50" charset="-127"/>
                        <a:ea typeface="현대산스 Text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effectLst/>
                          <a:latin typeface="Arial Narrow" panose="020B0606020202030204" pitchFamily="34" charset="0"/>
                          <a:ea typeface="현대하모니 L" panose="02020603020101020101" pitchFamily="18" charset="-127"/>
                        </a:rPr>
                        <a:t>35,293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18,908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effectLst/>
                          <a:latin typeface="Arial Narrow" panose="020B0606020202030204" pitchFamily="34" charset="0"/>
                          <a:ea typeface="현대하모니 L" panose="02020603020101020101" pitchFamily="18" charset="-127"/>
                        </a:rPr>
                        <a:t>536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b="0" i="0" u="none" strike="noStrike" dirty="0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24,666</a:t>
                      </a:r>
                      <a:endParaRPr lang="ko-KR" sz="1100" b="0" i="0" u="none" strike="noStrike" dirty="0">
                        <a:effectLst/>
                        <a:latin typeface="Arial Narrow" panose="020B0606020202030204" pitchFamily="34" charset="0"/>
                        <a:ea typeface="굴림체" panose="020B0609000101010101" pitchFamily="49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b="0" i="0" u="none" strike="noStrike" dirty="0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8,028</a:t>
                      </a:r>
                      <a:endParaRPr lang="ko-KR" sz="1100" b="0" i="0" u="none" strike="noStrike" dirty="0">
                        <a:effectLst/>
                        <a:latin typeface="Arial Narrow" panose="020B0606020202030204" pitchFamily="34" charset="0"/>
                        <a:ea typeface="굴림체" panose="020B0609000101010101" pitchFamily="49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b="0" i="0" u="none" strike="noStrike" dirty="0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325</a:t>
                      </a:r>
                      <a:endParaRPr lang="ko-KR" sz="1100" b="0" i="0" u="none" strike="noStrike" dirty="0">
                        <a:effectLst/>
                        <a:latin typeface="Arial Narrow" panose="020B0606020202030204" pitchFamily="34" charset="0"/>
                        <a:ea typeface="굴림체" panose="020B0609000101010101" pitchFamily="49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-10,627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-30.1%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-10,880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-57.5%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현대하모니 L" panose="02020603020101020101" pitchFamily="18" charset="-127"/>
                        </a:rPr>
                        <a:t>-210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-39.3%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 dirty="0">
                          <a:effectLst/>
                          <a:latin typeface="Arial Narrow" panose="020B0606020202030204" pitchFamily="34" charset="0"/>
                          <a:ea typeface="현대하모니 L" panose="02020603020101020101" pitchFamily="18" charset="-127"/>
                        </a:rPr>
                        <a:t>17,064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 dirty="0">
                          <a:effectLst/>
                          <a:latin typeface="Arial Narrow" panose="020B0606020202030204" pitchFamily="34" charset="0"/>
                          <a:ea typeface="현대하모니 L" panose="02020603020101020101" pitchFamily="18" charset="-127"/>
                        </a:rPr>
                        <a:t>16,769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>
                          <a:effectLst/>
                          <a:latin typeface="Arial Narrow" panose="020B0606020202030204" pitchFamily="34" charset="0"/>
                          <a:ea typeface="현대하모니 L" panose="02020603020101020101" pitchFamily="18" charset="-127"/>
                        </a:rPr>
                        <a:t>17,240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 dirty="0">
                          <a:effectLst/>
                          <a:latin typeface="Arial Narrow" panose="020B0606020202030204" pitchFamily="34" charset="0"/>
                          <a:ea typeface="현대하모니 L" panose="02020603020101020101" pitchFamily="18" charset="-127"/>
                        </a:rPr>
                        <a:t>17,448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70350"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effectLst/>
                        <a:latin typeface="현대산스 Text" panose="020B0600000101010101" pitchFamily="50" charset="-127"/>
                        <a:ea typeface="현대산스 Text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effectLst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기타</a:t>
                      </a:r>
                      <a:endParaRPr lang="en-US" altLang="ko-KR" sz="1100" b="1" i="0" u="none" strike="noStrike" dirty="0">
                        <a:effectLst/>
                        <a:latin typeface="현대산스 Text" panose="020B0600000101010101" pitchFamily="50" charset="-127"/>
                        <a:ea typeface="현대산스 Text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r" fontAlgn="ctr"/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굴림체" panose="020B0609000101010101" pitchFamily="49" charset="-127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ctr"/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굴림체" panose="020B0609000101010101" pitchFamily="49" charset="-127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ctr"/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굴림체" panose="020B0609000101010101" pitchFamily="49" charset="-127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현대하모니 L" panose="02020603020101020101" pitchFamily="18" charset="-127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현대하모니 L" panose="02020603020101020101" pitchFamily="18" charset="-127"/>
                        </a:rPr>
                        <a:t>127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현대하모니 L" panose="02020603020101020101" pitchFamily="18" charset="-127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r" fontAlgn="ctr"/>
                      <a:endParaRPr lang="en-US" altLang="ko-KR" sz="1100" b="0" i="0" u="none" strike="noStrike" dirty="0">
                        <a:solidFill>
                          <a:srgbClr val="3333FF"/>
                        </a:solidFill>
                        <a:effectLst/>
                        <a:latin typeface="Arial Narrow" panose="020B0606020202030204" pitchFamily="34" charset="0"/>
                        <a:ea typeface="굴림체" panose="020B0609000101010101" pitchFamily="49" charset="-127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ctr"/>
                      <a:endParaRPr lang="en-US" altLang="ko-KR" sz="1100" b="0" i="0" u="none" strike="noStrike" dirty="0">
                        <a:solidFill>
                          <a:srgbClr val="3333FF"/>
                        </a:solidFill>
                        <a:effectLst/>
                        <a:latin typeface="Arial Narrow" panose="020B0606020202030204" pitchFamily="34" charset="0"/>
                        <a:ea typeface="굴림체" panose="020B0609000101010101" pitchFamily="49" charset="-127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127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0.0%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r" fontAlgn="ctr"/>
                      <a:endParaRPr lang="en-US" altLang="ko-KR" sz="1100" b="0" i="0" u="none" strike="noStrike" dirty="0">
                        <a:solidFill>
                          <a:srgbClr val="3333FF"/>
                        </a:solidFill>
                        <a:effectLst/>
                        <a:latin typeface="Arial Narrow" panose="020B0606020202030204" pitchFamily="34" charset="0"/>
                        <a:ea typeface="굴림체" panose="020B0609000101010101" pitchFamily="49" charset="-127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ctr"/>
                      <a:endParaRPr lang="en-US" altLang="ko-KR" sz="1100" b="0" i="0" u="none" strike="noStrike" dirty="0">
                        <a:solidFill>
                          <a:srgbClr val="3333FF"/>
                        </a:solidFill>
                        <a:effectLst/>
                        <a:latin typeface="Arial Narrow" panose="020B0606020202030204" pitchFamily="34" charset="0"/>
                        <a:ea typeface="굴림체" panose="020B0609000101010101" pitchFamily="49" charset="-127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 dirty="0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1,184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 dirty="0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702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535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 dirty="0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5,816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7035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effectLst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 비정규 운반비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현대산스 Text" panose="020B0600000101010101" pitchFamily="50" charset="-127"/>
                        </a:rPr>
                        <a:t>2,450</a:t>
                      </a:r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현대산스 Text" panose="020B0600000101010101" pitchFamily="50" charset="-127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현대산스 Text" panose="020B0600000101010101" pitchFamily="50" charset="-127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현대산스 Text" panose="020B0600000101010101" pitchFamily="50" charset="-127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현대산스 Text" panose="020B0600000101010101" pitchFamily="50" charset="-127"/>
                        </a:rPr>
                        <a:t>2,880</a:t>
                      </a:r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현대산스 Text" panose="020B0600000101010101" pitchFamily="50" charset="-127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현대산스 Text" panose="020B0600000101010101" pitchFamily="50" charset="-127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현대산스 Text" panose="020B0600000101010101" pitchFamily="50" charset="-127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r" fontAlgn="ctr"/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현대산스 Text" panose="020B0600000101010101" pitchFamily="50" charset="-127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ctr"/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현대산스 Text" panose="020B0600000101010101" pitchFamily="50" charset="-127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430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17.6%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r" fontAlgn="ctr"/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현대산스 Text" panose="020B0600000101010101" pitchFamily="50" charset="-127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2,613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2,182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 dirty="0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2,072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0" i="0" u="none" strike="noStrike" dirty="0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2,092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4334869"/>
                  </a:ext>
                </a:extLst>
              </a:tr>
              <a:tr h="17035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50" b="1" i="0" u="none" strike="noStrike" dirty="0">
                          <a:effectLst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 합계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현대산스 Text" panose="020B0600000101010101" pitchFamily="50" charset="-127"/>
                        </a:rPr>
                        <a:t>93,922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현대산스 Text" panose="020B0600000101010101" pitchFamily="50" charset="-127"/>
                        </a:rPr>
                        <a:t>42,181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현대산스 Text" panose="020B0600000101010101" pitchFamily="50" charset="-127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현대산스 Text" panose="020B0600000101010101" pitchFamily="50" charset="-127"/>
                        </a:rPr>
                        <a:t>73,363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현대산스 Text" panose="020B0600000101010101" pitchFamily="50" charset="-127"/>
                        </a:rPr>
                        <a:t>27,355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현대산스 Text" panose="020B0600000101010101" pitchFamily="50" charset="-127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현대산스 Text" panose="020B0600000101010101" pitchFamily="50" charset="-127"/>
                        </a:rPr>
                        <a:t>-20,559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현대산스 Text" panose="020B0600000101010101" pitchFamily="50" charset="-127"/>
                        </a:rPr>
                        <a:t>-21.9%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현대산스 Text" panose="020B0600000101010101" pitchFamily="50" charset="-127"/>
                        </a:rPr>
                        <a:t>-14,826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현대산스 Text" panose="020B0600000101010101" pitchFamily="50" charset="-127"/>
                        </a:rPr>
                        <a:t>-35.1%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r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현대산스 Text" panose="020B0600000101010101" pitchFamily="50" charset="-127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50" b="1" i="0" u="none" strike="noStrike" dirty="0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43,458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50" b="1" i="0" u="none" strike="noStrike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40,136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50" b="1" i="0" u="none" strike="noStrike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38,928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5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현대산스 Text" panose="020B0600000101010101" pitchFamily="50" charset="-127"/>
                        </a:rPr>
                        <a:t>38,073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9641123"/>
                  </a:ext>
                </a:extLst>
              </a:tr>
              <a:tr h="216809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50" b="1" i="0" u="none" strike="noStrike" dirty="0">
                          <a:effectLst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 총 대당 운반비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r" fontAlgn="ctr"/>
                      <a:r>
                        <a:rPr lang="en-US" altLang="ko-KR" sz="14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현대산스 Text" panose="020B0600000101010101" pitchFamily="50" charset="-127"/>
                        </a:rPr>
                        <a:t>449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r" fontAlgn="ctr"/>
                      <a:r>
                        <a:rPr lang="en-US" altLang="ko-KR" sz="14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현대산스 Text" panose="020B0600000101010101" pitchFamily="50" charset="-127"/>
                        </a:rPr>
                        <a:t>373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r" fontAlgn="ctr"/>
                      <a:r>
                        <a:rPr lang="en-US" altLang="ko-KR" sz="14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현대산스 Text" panose="020B0600000101010101" pitchFamily="50" charset="-127"/>
                        </a:rPr>
                        <a:t>-76</a:t>
                      </a:r>
                      <a:endParaRPr lang="ko-KR" altLang="en-US" sz="1400" b="1" i="0" u="none" strike="noStrike" dirty="0">
                        <a:solidFill>
                          <a:srgbClr val="0000FF"/>
                        </a:solidFill>
                        <a:effectLst/>
                        <a:latin typeface="Arial Narrow" panose="020B0606020202030204" pitchFamily="34" charset="0"/>
                        <a:ea typeface="현대산스 Text" panose="020B0600000101010101" pitchFamily="50" charset="-127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r" fontAlgn="ctr"/>
                      <a:r>
                        <a:rPr lang="en-US" altLang="ko-KR" sz="14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현대산스 Text" panose="020B0600000101010101" pitchFamily="50" charset="-127"/>
                        </a:rPr>
                        <a:t>-17.0%</a:t>
                      </a:r>
                      <a:endParaRPr lang="ko-KR" altLang="en-US" sz="1400" b="1" i="0" u="none" strike="noStrike" dirty="0">
                        <a:solidFill>
                          <a:srgbClr val="0000FF"/>
                        </a:solidFill>
                        <a:effectLst/>
                        <a:latin typeface="Arial Narrow" panose="020B0606020202030204" pitchFamily="34" charset="0"/>
                        <a:ea typeface="현대산스 Text" panose="020B0600000101010101" pitchFamily="50" charset="-127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ctr"/>
                      <a:endParaRPr lang="en-US" altLang="ko-KR" sz="10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현대산스 Text" panose="020B0600000101010101" pitchFamily="50" charset="-127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ctr"/>
                      <a:endParaRPr lang="en-US" altLang="ko-KR" sz="10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현대산스 Text" panose="020B0600000101010101" pitchFamily="50" charset="-127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50" b="1" i="0" u="none" strike="noStrike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413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50" b="1" i="0" u="none" strike="noStrike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428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50" b="1" i="0" u="none" strike="noStrike" dirty="0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452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5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현대산스 Text" panose="020B0600000101010101" pitchFamily="50" charset="-127"/>
                        </a:rPr>
                        <a:t>460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7764263"/>
                  </a:ext>
                </a:extLst>
              </a:tr>
              <a:tr h="185836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매출액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r" fontAlgn="ctr"/>
                      <a:r>
                        <a:rPr lang="en-US" altLang="ko-KR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현대산스 Text" panose="020B0600000101010101" pitchFamily="50" charset="-127"/>
                        </a:rPr>
                        <a:t>4,011,840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r" fontAlgn="ctr"/>
                      <a:r>
                        <a:rPr lang="en-US" altLang="ko-KR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현대산스 Text" panose="020B0600000101010101" pitchFamily="50" charset="-127"/>
                        </a:rPr>
                        <a:t>3,409,581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r" fontAlgn="ctr"/>
                      <a:r>
                        <a:rPr lang="en-US" altLang="ko-KR" sz="12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현대산스 Text" panose="020B0600000101010101" pitchFamily="50" charset="-127"/>
                        </a:rPr>
                        <a:t>-602,259</a:t>
                      </a:r>
                      <a:endParaRPr lang="ko-KR" altLang="en-US" sz="1200" b="1" i="0" u="none" strike="noStrike" dirty="0">
                        <a:solidFill>
                          <a:srgbClr val="0000FF"/>
                        </a:solidFill>
                        <a:effectLst/>
                        <a:latin typeface="Arial Narrow" panose="020B0606020202030204" pitchFamily="34" charset="0"/>
                        <a:ea typeface="현대산스 Text" panose="020B0600000101010101" pitchFamily="50" charset="-127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r" fontAlgn="ctr"/>
                      <a:r>
                        <a:rPr lang="en-US" altLang="ko-KR" sz="12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현대산스 Text" panose="020B0600000101010101" pitchFamily="50" charset="-127"/>
                        </a:rPr>
                        <a:t>-15.0%</a:t>
                      </a:r>
                      <a:endParaRPr lang="ko-KR" altLang="en-US" sz="1200" b="1" i="0" u="none" strike="noStrike" dirty="0">
                        <a:solidFill>
                          <a:srgbClr val="0000FF"/>
                        </a:solidFill>
                        <a:effectLst/>
                        <a:latin typeface="Arial Narrow" panose="020B0606020202030204" pitchFamily="34" charset="0"/>
                        <a:ea typeface="현대산스 Text" panose="020B0600000101010101" pitchFamily="50" charset="-127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ctr"/>
                      <a:endParaRPr lang="en-US" altLang="ko-KR" sz="10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현대산스 Text" panose="020B0600000101010101" pitchFamily="50" charset="-127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ctr"/>
                      <a:endParaRPr lang="en-US" altLang="ko-KR" sz="10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현대산스 Text" panose="020B0600000101010101" pitchFamily="50" charset="-127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1" i="0" u="none" strike="noStrike" dirty="0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4,656,071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1" i="0" u="none" strike="noStrike" dirty="0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3,986,087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1" i="0" u="none" strike="noStrike" dirty="0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3,816,567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현대산스 Text" panose="020B0600000101010101" pitchFamily="50" charset="-127"/>
                        </a:rPr>
                        <a:t>3,869,770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4999019"/>
                  </a:ext>
                </a:extLst>
              </a:tr>
              <a:tr h="185836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매출액 대비 운반비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r" fontAlgn="ctr"/>
                      <a:r>
                        <a:rPr lang="en-US" altLang="ko-KR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현대산스 Text" panose="020B0600000101010101" pitchFamily="50" charset="-127"/>
                        </a:rPr>
                        <a:t>1.05%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r" fontAlgn="ctr"/>
                      <a:r>
                        <a:rPr lang="en-US" altLang="ko-KR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현대산스 Text" panose="020B0600000101010101" pitchFamily="50" charset="-127"/>
                        </a:rPr>
                        <a:t>0.80%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r" fontAlgn="ctr"/>
                      <a:r>
                        <a:rPr lang="en-US" altLang="ko-KR" sz="1200" b="1" i="0" u="none" strike="noStrike" dirty="0">
                          <a:solidFill>
                            <a:srgbClr val="3333FF"/>
                          </a:solidFill>
                          <a:effectLst/>
                          <a:latin typeface="Arial Narrow" panose="020B0606020202030204" pitchFamily="34" charset="0"/>
                          <a:ea typeface="현대산스 Text" panose="020B0600000101010101" pitchFamily="50" charset="-127"/>
                        </a:rPr>
                        <a:t>-0.25%</a:t>
                      </a:r>
                      <a:endParaRPr lang="ko-KR" altLang="en-US" sz="1200" b="1" i="0" u="none" strike="noStrike" dirty="0">
                        <a:solidFill>
                          <a:srgbClr val="3333FF"/>
                        </a:solidFill>
                        <a:effectLst/>
                        <a:latin typeface="Arial Narrow" panose="020B0606020202030204" pitchFamily="34" charset="0"/>
                        <a:ea typeface="현대산스 Text" panose="020B0600000101010101" pitchFamily="50" charset="-127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r" fontAlgn="ctr"/>
                      <a:r>
                        <a:rPr lang="en-US" altLang="ko-KR" sz="1200" b="1" i="0" u="none" strike="noStrike" dirty="0">
                          <a:solidFill>
                            <a:srgbClr val="3333FF"/>
                          </a:solidFill>
                          <a:effectLst/>
                          <a:latin typeface="Arial Narrow" panose="020B0606020202030204" pitchFamily="34" charset="0"/>
                          <a:ea typeface="현대산스 Text" panose="020B0600000101010101" pitchFamily="50" charset="-127"/>
                        </a:rPr>
                        <a:t>-23.7%</a:t>
                      </a:r>
                      <a:endParaRPr lang="ko-KR" altLang="en-US" sz="1200" b="1" i="0" u="none" strike="noStrike" dirty="0">
                        <a:solidFill>
                          <a:srgbClr val="3333FF"/>
                        </a:solidFill>
                        <a:effectLst/>
                        <a:latin typeface="Arial Narrow" panose="020B0606020202030204" pitchFamily="34" charset="0"/>
                        <a:ea typeface="현대산스 Text" panose="020B0600000101010101" pitchFamily="50" charset="-127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ctr"/>
                      <a:endParaRPr lang="en-US" altLang="ko-KR" sz="1000" b="1" i="0" u="none" strike="noStrike" dirty="0">
                        <a:solidFill>
                          <a:schemeClr val="tx1"/>
                        </a:solidFill>
                        <a:effectLst/>
                        <a:latin typeface="현대산스 Text" panose="020B0600000101010101" pitchFamily="50" charset="-127"/>
                        <a:ea typeface="현대산스 Text" panose="020B0600000101010101" pitchFamily="50" charset="-127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ctr"/>
                      <a:endParaRPr lang="en-US" altLang="ko-KR" sz="1000" b="1" i="0" u="none" strike="noStrike" dirty="0">
                        <a:solidFill>
                          <a:schemeClr val="tx1"/>
                        </a:solidFill>
                        <a:effectLst/>
                        <a:latin typeface="현대산스 Text" panose="020B0600000101010101" pitchFamily="50" charset="-127"/>
                        <a:ea typeface="현대산스 Text" panose="020B0600000101010101" pitchFamily="50" charset="-127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1" i="0" u="none" strike="noStrike" dirty="0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0.9%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1" i="0" u="none" strike="noStrike" dirty="0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1.0%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1.0%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현대산스 Text" panose="020B0600000101010101" pitchFamily="50" charset="-127"/>
                        </a:rPr>
                        <a:t>1.0%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7625842"/>
                  </a:ext>
                </a:extLst>
              </a:tr>
            </a:tbl>
          </a:graphicData>
        </a:graphic>
      </p:graphicFrame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>
          <a:xfrm>
            <a:off x="9343823" y="6560967"/>
            <a:ext cx="605481" cy="363537"/>
          </a:xfrm>
        </p:spPr>
        <p:txBody>
          <a:bodyPr/>
          <a:lstStyle/>
          <a:p>
            <a:pPr>
              <a:defRPr/>
            </a:pPr>
            <a:fld id="{D663A584-F192-4479-8392-23313FF1C7F1}" type="slidenum">
              <a:rPr lang="ko-KR" altLang="en-US" smtClean="0">
                <a:latin typeface="현대산스 Head Light" panose="020B0600000101010101" pitchFamily="50" charset="-127"/>
                <a:ea typeface="현대산스 Head Light" panose="020B0600000101010101" pitchFamily="50" charset="-127"/>
              </a:rPr>
              <a:pPr>
                <a:defRPr/>
              </a:pPr>
              <a:t>2</a:t>
            </a:fld>
            <a:r>
              <a:rPr lang="en-US" altLang="ko-KR" dirty="0">
                <a:latin typeface="현대산스 Head Light" panose="020B0600000101010101" pitchFamily="50" charset="-127"/>
                <a:ea typeface="현대산스 Head Light" panose="020B0600000101010101" pitchFamily="50" charset="-127"/>
              </a:rPr>
              <a:t>/6</a:t>
            </a:r>
            <a:endParaRPr lang="ko-KR" altLang="en-US" dirty="0">
              <a:latin typeface="현대산스 Head Light" panose="020B0600000101010101" pitchFamily="50" charset="-127"/>
              <a:ea typeface="현대산스 Head Light" panose="020B0600000101010101" pitchFamily="50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922103" y="699647"/>
            <a:ext cx="88391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 dirty="0">
                <a:latin typeface="현대산스 Head Light" panose="020B0600000101010101" pitchFamily="50" charset="-127"/>
                <a:ea typeface="현대산스 Head Light" panose="020B0600000101010101" pitchFamily="50" charset="-127"/>
              </a:rPr>
              <a:t>단위 </a:t>
            </a:r>
            <a:r>
              <a:rPr lang="en-US" altLang="ko-KR" sz="700" dirty="0">
                <a:latin typeface="현대산스 Head Light" panose="020B0600000101010101" pitchFamily="50" charset="-127"/>
                <a:ea typeface="현대산스 Head Light" panose="020B0600000101010101" pitchFamily="50" charset="-127"/>
              </a:rPr>
              <a:t>: EA</a:t>
            </a:r>
            <a:r>
              <a:rPr lang="ko-KR" altLang="en-US" sz="700" dirty="0">
                <a:latin typeface="현대산스 Head Light" panose="020B0600000101010101" pitchFamily="50" charset="-127"/>
                <a:ea typeface="현대산스 Head Light" panose="020B0600000101010101" pitchFamily="50" charset="-127"/>
              </a:rPr>
              <a:t> </a:t>
            </a:r>
            <a:r>
              <a:rPr lang="en-US" altLang="ko-KR" sz="700" dirty="0">
                <a:latin typeface="현대산스 Head Light" panose="020B0600000101010101" pitchFamily="50" charset="-127"/>
                <a:ea typeface="현대산스 Head Light" panose="020B0600000101010101" pitchFamily="50" charset="-127"/>
              </a:rPr>
              <a:t>/ </a:t>
            </a:r>
            <a:r>
              <a:rPr lang="ko-KR" altLang="en-US" sz="700" dirty="0">
                <a:latin typeface="현대산스 Head Light" panose="020B0600000101010101" pitchFamily="50" charset="-127"/>
                <a:ea typeface="현대산스 Head Light" panose="020B0600000101010101" pitchFamily="50" charset="-127"/>
              </a:rPr>
              <a:t>천원</a:t>
            </a:r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0035662"/>
              </p:ext>
            </p:extLst>
          </p:nvPr>
        </p:nvGraphicFramePr>
        <p:xfrm>
          <a:off x="311150" y="4798422"/>
          <a:ext cx="9276985" cy="1617006"/>
        </p:xfrm>
        <a:graphic>
          <a:graphicData uri="http://schemas.openxmlformats.org/drawingml/2006/table">
            <a:tbl>
              <a:tblPr/>
              <a:tblGrid>
                <a:gridCol w="9803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83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76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88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44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655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2468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40605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06473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납품처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현대산스 Text" panose="020B0600000101010101" pitchFamily="50" charset="-127"/>
                        <a:ea typeface="현대산스 Text" panose="020B0600000101010101" pitchFamily="50" charset="-127"/>
                      </a:endParaRPr>
                    </a:p>
                  </a:txBody>
                  <a:tcPr marL="7121" marR="7121" marT="71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대당 운반비 </a:t>
                      </a:r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증감 원인</a:t>
                      </a:r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(</a:t>
                      </a:r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계획 대비 실적 </a:t>
                      </a:r>
                      <a:r>
                        <a:rPr lang="en-US" altLang="ko-KR" sz="12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± 15% </a:t>
                      </a:r>
                      <a:r>
                        <a:rPr lang="ko-KR" altLang="en-US" sz="12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초과 </a:t>
                      </a:r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)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현대산스 Text" panose="020B0600000101010101" pitchFamily="50" charset="-127"/>
                        <a:ea typeface="현대산스 Text" panose="020B0600000101010101" pitchFamily="50" charset="-127"/>
                      </a:endParaRPr>
                    </a:p>
                  </a:txBody>
                  <a:tcPr marL="7121" marR="7121" marT="7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현대산스 Text" panose="020B0600000101010101" pitchFamily="50" charset="-127"/>
                        <a:ea typeface="현대산스 Text" panose="020B0600000101010101" pitchFamily="50" charset="-127"/>
                      </a:endParaRPr>
                    </a:p>
                  </a:txBody>
                  <a:tcPr marL="7121" marR="7121" marT="7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96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계획 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현대산스 Text" panose="020B0600000101010101" pitchFamily="50" charset="-127"/>
                        <a:ea typeface="현대산스 Text" panose="020B0600000101010101" pitchFamily="50" charset="-127"/>
                      </a:endParaRPr>
                    </a:p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운행 횟수</a:t>
                      </a:r>
                    </a:p>
                  </a:txBody>
                  <a:tcPr marL="7121" marR="7121" marT="7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운행 횟수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현대산스 Text" panose="020B0600000101010101" pitchFamily="50" charset="-127"/>
                        <a:ea typeface="현대산스 Text" panose="020B0600000101010101" pitchFamily="50" charset="-127"/>
                      </a:endParaRPr>
                    </a:p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(a)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현대산스 Text" panose="020B0600000101010101" pitchFamily="50" charset="-127"/>
                        <a:ea typeface="현대산스 Text" panose="020B0600000101010101" pitchFamily="50" charset="-127"/>
                      </a:endParaRPr>
                    </a:p>
                  </a:txBody>
                  <a:tcPr marL="7121" marR="7121" marT="7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실적 수량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현대산스 Text" panose="020B0600000101010101" pitchFamily="50" charset="-127"/>
                        <a:ea typeface="현대산스 Text" panose="020B0600000101010101" pitchFamily="50" charset="-127"/>
                      </a:endParaRPr>
                    </a:p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(b)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현대산스 Text" panose="020B0600000101010101" pitchFamily="50" charset="-127"/>
                        <a:ea typeface="현대산스 Text" panose="020B0600000101010101" pitchFamily="50" charset="-127"/>
                      </a:endParaRPr>
                    </a:p>
                  </a:txBody>
                  <a:tcPr marL="7121" marR="7121" marT="7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회당 적재수량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현대산스 Text" panose="020B0600000101010101" pitchFamily="50" charset="-127"/>
                        <a:ea typeface="현대산스 Text" panose="020B0600000101010101" pitchFamily="50" charset="-127"/>
                      </a:endParaRPr>
                    </a:p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(c)=(</a:t>
                      </a:r>
                      <a:r>
                        <a:rPr lang="en-US" altLang="ko-KR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b÷a</a:t>
                      </a: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)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현대산스 Text" panose="020B0600000101010101" pitchFamily="50" charset="-127"/>
                        <a:ea typeface="현대산스 Text" panose="020B0600000101010101" pitchFamily="50" charset="-127"/>
                      </a:endParaRPr>
                    </a:p>
                  </a:txBody>
                  <a:tcPr marL="7121" marR="7121" marT="7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기준 적재수량</a:t>
                      </a:r>
                      <a:endParaRPr lang="en-US" altLang="ko-KR" sz="1000" b="1" dirty="0">
                        <a:latin typeface="현대산스 Text" panose="020B0600000101010101" pitchFamily="50" charset="-127"/>
                        <a:ea typeface="현대산스 Text" panose="020B0600000101010101" pitchFamily="50" charset="-127"/>
                      </a:endParaRPr>
                    </a:p>
                    <a:p>
                      <a:pPr algn="ctr" latinLnBrk="1"/>
                      <a:r>
                        <a:rPr lang="en-US" altLang="ko-KR" sz="1000" b="1" dirty="0"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(d)</a:t>
                      </a:r>
                      <a:endParaRPr lang="ko-KR" altLang="en-US" sz="1000" b="1" dirty="0">
                        <a:latin typeface="현대산스 Text" panose="020B0600000101010101" pitchFamily="50" charset="-127"/>
                        <a:ea typeface="현대산스 Text" panose="020B0600000101010101" pitchFamily="50" charset="-127"/>
                      </a:endParaRPr>
                    </a:p>
                  </a:txBody>
                  <a:tcPr marL="7121" marR="7121" marT="7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 err="1"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적재율</a:t>
                      </a:r>
                      <a:endParaRPr lang="en-US" altLang="ko-KR" sz="1000" b="1" dirty="0">
                        <a:latin typeface="현대산스 Text" panose="020B0600000101010101" pitchFamily="50" charset="-127"/>
                        <a:ea typeface="현대산스 Text" panose="020B0600000101010101" pitchFamily="50" charset="-127"/>
                      </a:endParaRPr>
                    </a:p>
                    <a:p>
                      <a:pPr algn="ctr" latinLnBrk="1"/>
                      <a:r>
                        <a:rPr lang="en-US" altLang="ko-KR" sz="1000" b="1" dirty="0"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(</a:t>
                      </a:r>
                      <a:r>
                        <a:rPr lang="en-US" altLang="ko-KR" sz="1000" b="1" dirty="0" err="1"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c÷d</a:t>
                      </a:r>
                      <a:r>
                        <a:rPr lang="en-US" altLang="ko-KR" sz="1000" b="1" dirty="0"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)</a:t>
                      </a:r>
                      <a:endParaRPr lang="ko-KR" altLang="en-US" sz="1000" b="1" dirty="0">
                        <a:latin typeface="현대산스 Text" panose="020B0600000101010101" pitchFamily="50" charset="-127"/>
                        <a:ea typeface="현대산스 Text" panose="020B0600000101010101" pitchFamily="50" charset="-127"/>
                      </a:endParaRPr>
                    </a:p>
                  </a:txBody>
                  <a:tcPr marL="7121" marR="7121" marT="7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원인</a:t>
                      </a:r>
                    </a:p>
                  </a:txBody>
                  <a:tcPr marL="7121" marR="7121" marT="7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991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rgbClr val="0000FF"/>
                          </a:solidFill>
                          <a:effectLst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광주</a:t>
                      </a:r>
                      <a:r>
                        <a:rPr lang="en-US" altLang="ko-KR" sz="1000" b="1" i="0" u="none" strike="noStrike" dirty="0">
                          <a:solidFill>
                            <a:srgbClr val="0000FF"/>
                          </a:solidFill>
                          <a:effectLst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/</a:t>
                      </a:r>
                      <a:r>
                        <a:rPr lang="ko-KR" altLang="en-US" sz="1000" b="1" i="0" u="none" strike="noStrike" dirty="0">
                          <a:solidFill>
                            <a:srgbClr val="0000FF"/>
                          </a:solidFill>
                          <a:effectLst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전주</a:t>
                      </a:r>
                    </a:p>
                  </a:txBody>
                  <a:tcPr marL="7121" marR="7121" marT="71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현대산스 Text" panose="020B0600000101010101" pitchFamily="50" charset="-127"/>
                        </a:rPr>
                        <a:t>9</a:t>
                      </a:r>
                    </a:p>
                  </a:txBody>
                  <a:tcPr marL="7121" marR="36000" marT="7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현대산스 Text" panose="020B0600000101010101" pitchFamily="50" charset="-127"/>
                        </a:rPr>
                        <a:t>6</a:t>
                      </a:r>
                    </a:p>
                  </a:txBody>
                  <a:tcPr marL="7121" marR="36000" marT="7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100" b="0" dirty="0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현대산스 Text" panose="020B0600000101010101" pitchFamily="50" charset="-127"/>
                        </a:rPr>
                        <a:t>8,928</a:t>
                      </a:r>
                      <a:endParaRPr lang="ko-KR" altLang="en-US" sz="1100" b="0" dirty="0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현대산스 Text" panose="020B0600000101010101" pitchFamily="50" charset="-127"/>
                      </a:endParaRPr>
                    </a:p>
                  </a:txBody>
                  <a:tcPr marL="7121" marR="36000" marT="7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100" b="0" dirty="0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현대산스 Text" panose="020B0600000101010101" pitchFamily="50" charset="-127"/>
                        </a:rPr>
                        <a:t>1,488</a:t>
                      </a:r>
                      <a:endParaRPr lang="ko-KR" altLang="en-US" sz="1100" b="0" dirty="0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현대산스 Text" panose="020B0600000101010101" pitchFamily="50" charset="-127"/>
                      </a:endParaRPr>
                    </a:p>
                  </a:txBody>
                  <a:tcPr marL="7121" marR="36000" marT="7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100" b="0" dirty="0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현대산스 Text" panose="020B0600000101010101" pitchFamily="50" charset="-127"/>
                        </a:rPr>
                        <a:t>1,600</a:t>
                      </a:r>
                      <a:endParaRPr lang="ko-KR" altLang="en-US" sz="1100" b="0" dirty="0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현대산스 Text" panose="020B0600000101010101" pitchFamily="50" charset="-127"/>
                      </a:endParaRPr>
                    </a:p>
                  </a:txBody>
                  <a:tcPr marL="7121" marR="36000" marT="7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100" b="0" dirty="0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현대산스 Text" panose="020B0600000101010101" pitchFamily="50" charset="-127"/>
                        </a:rPr>
                        <a:t>93.0%</a:t>
                      </a:r>
                      <a:endParaRPr lang="ko-KR" altLang="en-US" sz="1100" b="0" dirty="0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현대산스 Text" panose="020B0600000101010101" pitchFamily="50" charset="-127"/>
                      </a:endParaRPr>
                    </a:p>
                  </a:txBody>
                  <a:tcPr marL="7121" marR="36000" marT="7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b="1" dirty="0">
                          <a:solidFill>
                            <a:srgbClr val="0000FF"/>
                          </a:solidFill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-</a:t>
                      </a:r>
                      <a:r>
                        <a:rPr lang="en-US" altLang="ko-KR" sz="1000" b="1" baseline="0" dirty="0">
                          <a:solidFill>
                            <a:srgbClr val="0000FF"/>
                          </a:solidFill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 SP3 </a:t>
                      </a:r>
                      <a:r>
                        <a:rPr lang="ko-KR" altLang="en-US" sz="1000" b="1" baseline="0" dirty="0">
                          <a:solidFill>
                            <a:srgbClr val="0000FF"/>
                          </a:solidFill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물량 증가로 인해 </a:t>
                      </a:r>
                      <a:r>
                        <a:rPr lang="ko-KR" altLang="en-US" sz="1000" b="1" baseline="0" dirty="0" err="1">
                          <a:solidFill>
                            <a:srgbClr val="0000FF"/>
                          </a:solidFill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적재율</a:t>
                      </a:r>
                      <a:r>
                        <a:rPr lang="ko-KR" altLang="en-US" sz="1000" b="1" baseline="0" dirty="0">
                          <a:solidFill>
                            <a:srgbClr val="0000FF"/>
                          </a:solidFill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 ↑</a:t>
                      </a:r>
                      <a:endParaRPr lang="ko-KR" altLang="en-US" sz="1000" b="1" dirty="0">
                        <a:solidFill>
                          <a:srgbClr val="0000FF"/>
                        </a:solidFill>
                        <a:latin typeface="현대산스 Text" panose="020B0600000101010101" pitchFamily="50" charset="-127"/>
                        <a:ea typeface="현대산스 Text" panose="020B0600000101010101" pitchFamily="50" charset="-127"/>
                      </a:endParaRPr>
                    </a:p>
                  </a:txBody>
                  <a:tcPr marL="7121" marR="7121" marT="7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991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 err="1">
                          <a:solidFill>
                            <a:srgbClr val="3333FF"/>
                          </a:solidFill>
                          <a:effectLst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포레시아</a:t>
                      </a:r>
                      <a:r>
                        <a:rPr lang="ko-KR" altLang="en-US" sz="1000" b="1" i="0" u="none" strike="noStrike" dirty="0">
                          <a:solidFill>
                            <a:srgbClr val="3333FF"/>
                          </a:solidFill>
                          <a:effectLst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 장안</a:t>
                      </a:r>
                    </a:p>
                  </a:txBody>
                  <a:tcPr marL="7121" marR="7121" marT="71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rgbClr val="3333FF"/>
                          </a:solidFill>
                          <a:effectLst/>
                          <a:latin typeface="Arial Narrow" panose="020B0606020202030204" pitchFamily="34" charset="0"/>
                          <a:ea typeface="현대산스 Text" panose="020B0600000101010101" pitchFamily="50" charset="-127"/>
                        </a:rPr>
                        <a:t>12</a:t>
                      </a:r>
                      <a:endParaRPr lang="ko-KR" altLang="en-US" sz="1100" b="0" i="0" u="none" strike="noStrike" dirty="0">
                        <a:solidFill>
                          <a:srgbClr val="3333FF"/>
                        </a:solidFill>
                        <a:effectLst/>
                        <a:latin typeface="Arial Narrow" panose="020B0606020202030204" pitchFamily="34" charset="0"/>
                        <a:ea typeface="현대산스 Text" panose="020B0600000101010101" pitchFamily="50" charset="-127"/>
                      </a:endParaRPr>
                    </a:p>
                  </a:txBody>
                  <a:tcPr marL="7121" marR="36000" marT="7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rgbClr val="3333FF"/>
                          </a:solidFill>
                          <a:effectLst/>
                          <a:latin typeface="Arial Narrow" panose="020B0606020202030204" pitchFamily="34" charset="0"/>
                          <a:ea typeface="현대산스 Text" panose="020B0600000101010101" pitchFamily="50" charset="-127"/>
                        </a:rPr>
                        <a:t>8</a:t>
                      </a:r>
                      <a:endParaRPr lang="ko-KR" altLang="en-US" sz="1100" b="0" i="0" u="none" strike="noStrike" dirty="0">
                        <a:solidFill>
                          <a:srgbClr val="3333FF"/>
                        </a:solidFill>
                        <a:effectLst/>
                        <a:latin typeface="Arial Narrow" panose="020B0606020202030204" pitchFamily="34" charset="0"/>
                        <a:ea typeface="현대산스 Text" panose="020B0600000101010101" pitchFamily="50" charset="-127"/>
                      </a:endParaRPr>
                    </a:p>
                  </a:txBody>
                  <a:tcPr marL="7121" marR="36000" marT="7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100" b="0" dirty="0">
                          <a:solidFill>
                            <a:srgbClr val="3333FF"/>
                          </a:solidFill>
                          <a:latin typeface="Arial Narrow" panose="020B0606020202030204" pitchFamily="34" charset="0"/>
                          <a:ea typeface="현대산스 Text" panose="020B0600000101010101" pitchFamily="50" charset="-127"/>
                        </a:rPr>
                        <a:t>5,603</a:t>
                      </a:r>
                      <a:endParaRPr lang="ko-KR" altLang="en-US" sz="1100" b="0" dirty="0">
                        <a:solidFill>
                          <a:srgbClr val="3333FF"/>
                        </a:solidFill>
                        <a:latin typeface="Arial Narrow" panose="020B0606020202030204" pitchFamily="34" charset="0"/>
                        <a:ea typeface="현대산스 Text" panose="020B0600000101010101" pitchFamily="50" charset="-127"/>
                      </a:endParaRPr>
                    </a:p>
                  </a:txBody>
                  <a:tcPr marL="7121" marR="36000" marT="7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100" b="0" dirty="0">
                          <a:solidFill>
                            <a:srgbClr val="3333FF"/>
                          </a:solidFill>
                          <a:latin typeface="Arial Narrow" panose="020B0606020202030204" pitchFamily="34" charset="0"/>
                          <a:ea typeface="현대산스 Text" panose="020B0600000101010101" pitchFamily="50" charset="-127"/>
                        </a:rPr>
                        <a:t>700</a:t>
                      </a:r>
                      <a:endParaRPr lang="ko-KR" altLang="en-US" sz="1100" b="0" dirty="0">
                        <a:solidFill>
                          <a:srgbClr val="3333FF"/>
                        </a:solidFill>
                        <a:latin typeface="Arial Narrow" panose="020B0606020202030204" pitchFamily="34" charset="0"/>
                        <a:ea typeface="현대산스 Text" panose="020B0600000101010101" pitchFamily="50" charset="-127"/>
                      </a:endParaRPr>
                    </a:p>
                  </a:txBody>
                  <a:tcPr marL="7121" marR="36000" marT="7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100" b="0" dirty="0">
                          <a:solidFill>
                            <a:srgbClr val="3333FF"/>
                          </a:solidFill>
                          <a:latin typeface="Arial Narrow" panose="020B0606020202030204" pitchFamily="34" charset="0"/>
                          <a:ea typeface="현대산스 Text" panose="020B0600000101010101" pitchFamily="50" charset="-127"/>
                        </a:rPr>
                        <a:t>720</a:t>
                      </a:r>
                      <a:endParaRPr lang="ko-KR" altLang="en-US" sz="1100" b="0" dirty="0">
                        <a:solidFill>
                          <a:srgbClr val="3333FF"/>
                        </a:solidFill>
                        <a:latin typeface="Arial Narrow" panose="020B0606020202030204" pitchFamily="34" charset="0"/>
                        <a:ea typeface="현대산스 Text" panose="020B0600000101010101" pitchFamily="50" charset="-127"/>
                      </a:endParaRPr>
                    </a:p>
                  </a:txBody>
                  <a:tcPr marL="7121" marR="36000" marT="7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100" b="0" dirty="0">
                          <a:solidFill>
                            <a:srgbClr val="3333FF"/>
                          </a:solidFill>
                          <a:latin typeface="Arial Narrow" panose="020B0606020202030204" pitchFamily="34" charset="0"/>
                          <a:ea typeface="현대산스 Text" panose="020B0600000101010101" pitchFamily="50" charset="-127"/>
                        </a:rPr>
                        <a:t>97.2%</a:t>
                      </a:r>
                      <a:endParaRPr lang="ko-KR" altLang="en-US" sz="1100" b="0" dirty="0">
                        <a:solidFill>
                          <a:srgbClr val="3333FF"/>
                        </a:solidFill>
                        <a:latin typeface="Arial Narrow" panose="020B0606020202030204" pitchFamily="34" charset="0"/>
                        <a:ea typeface="현대산스 Text" panose="020B0600000101010101" pitchFamily="50" charset="-127"/>
                      </a:endParaRPr>
                    </a:p>
                  </a:txBody>
                  <a:tcPr marL="7121" marR="36000" marT="7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b="1" dirty="0">
                          <a:solidFill>
                            <a:srgbClr val="3333FF"/>
                          </a:solidFill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- SP3, NQ5 </a:t>
                      </a:r>
                      <a:r>
                        <a:rPr lang="ko-KR" altLang="en-US" sz="1000" b="1" dirty="0" err="1">
                          <a:solidFill>
                            <a:srgbClr val="3333FF"/>
                          </a:solidFill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합짐</a:t>
                      </a:r>
                      <a:r>
                        <a:rPr lang="ko-KR" altLang="en-US" sz="1000" b="1" dirty="0">
                          <a:solidFill>
                            <a:srgbClr val="3333FF"/>
                          </a:solidFill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 및 당진 </a:t>
                      </a:r>
                      <a:r>
                        <a:rPr lang="ko-KR" altLang="en-US" sz="1000" b="1" dirty="0" err="1">
                          <a:solidFill>
                            <a:srgbClr val="3333FF"/>
                          </a:solidFill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합짐</a:t>
                      </a:r>
                      <a:r>
                        <a:rPr lang="ko-KR" altLang="en-US" sz="1000" b="1" dirty="0">
                          <a:solidFill>
                            <a:srgbClr val="3333FF"/>
                          </a:solidFill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 운행으로 인한 </a:t>
                      </a:r>
                      <a:r>
                        <a:rPr lang="ko-KR" altLang="en-US" sz="1000" b="1" dirty="0" err="1">
                          <a:solidFill>
                            <a:srgbClr val="3333FF"/>
                          </a:solidFill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적재율</a:t>
                      </a:r>
                      <a:r>
                        <a:rPr lang="ko-KR" altLang="en-US" sz="1000" b="1" dirty="0">
                          <a:solidFill>
                            <a:srgbClr val="3333FF"/>
                          </a:solidFill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 향상</a:t>
                      </a:r>
                    </a:p>
                  </a:txBody>
                  <a:tcPr marL="7121" marR="7121" marT="7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939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 err="1">
                          <a:solidFill>
                            <a:srgbClr val="FF0000"/>
                          </a:solidFill>
                          <a:effectLst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위아</a:t>
                      </a:r>
                      <a:r>
                        <a:rPr lang="ko-KR" altLang="en-US" sz="1000" b="1" i="0" u="none" strike="noStrike" dirty="0">
                          <a:solidFill>
                            <a:srgbClr val="FF0000"/>
                          </a:solidFill>
                          <a:effectLst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 평택</a:t>
                      </a:r>
                    </a:p>
                  </a:txBody>
                  <a:tcPr marL="7121" marR="7121" marT="71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  <a:ea typeface="현대산스 Text" panose="020B0600000101010101" pitchFamily="50" charset="-127"/>
                        </a:rPr>
                        <a:t>8</a:t>
                      </a:r>
                      <a:endParaRPr lang="ko-KR" altLang="en-US" sz="1100" b="0" i="0" u="none" strike="noStrike" dirty="0">
                        <a:solidFill>
                          <a:srgbClr val="FF0000"/>
                        </a:solidFill>
                        <a:effectLst/>
                        <a:latin typeface="Arial Narrow" panose="020B0606020202030204" pitchFamily="34" charset="0"/>
                        <a:ea typeface="현대산스 Text" panose="020B0600000101010101" pitchFamily="50" charset="-127"/>
                      </a:endParaRPr>
                    </a:p>
                  </a:txBody>
                  <a:tcPr marL="7121" marR="36000" marT="7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  <a:ea typeface="현대산스 Text" panose="020B0600000101010101" pitchFamily="50" charset="-127"/>
                        </a:rPr>
                        <a:t>8</a:t>
                      </a:r>
                      <a:endParaRPr lang="ko-KR" altLang="en-US" sz="1100" b="0" i="0" u="none" strike="noStrike" dirty="0">
                        <a:solidFill>
                          <a:srgbClr val="FF0000"/>
                        </a:solidFill>
                        <a:effectLst/>
                        <a:latin typeface="Arial Narrow" panose="020B0606020202030204" pitchFamily="34" charset="0"/>
                        <a:ea typeface="현대산스 Text" panose="020B0600000101010101" pitchFamily="50" charset="-127"/>
                      </a:endParaRPr>
                    </a:p>
                  </a:txBody>
                  <a:tcPr marL="7121" marR="36000" marT="7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100" b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현대산스 Text" panose="020B0600000101010101" pitchFamily="50" charset="-127"/>
                        </a:rPr>
                        <a:t>816</a:t>
                      </a:r>
                      <a:endParaRPr lang="ko-KR" altLang="en-US" sz="1100" b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  <a:ea typeface="현대산스 Text" panose="020B0600000101010101" pitchFamily="50" charset="-127"/>
                      </a:endParaRPr>
                    </a:p>
                  </a:txBody>
                  <a:tcPr marL="7121" marR="36000" marT="7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100" b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현대산스 Text" panose="020B0600000101010101" pitchFamily="50" charset="-127"/>
                        </a:rPr>
                        <a:t>102</a:t>
                      </a:r>
                    </a:p>
                  </a:txBody>
                  <a:tcPr marL="7121" marR="36000" marT="7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100" b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현대산스 Text" panose="020B0600000101010101" pitchFamily="50" charset="-127"/>
                        </a:rPr>
                        <a:t>192</a:t>
                      </a:r>
                      <a:endParaRPr lang="ko-KR" altLang="en-US" sz="1100" b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  <a:ea typeface="현대산스 Text" panose="020B0600000101010101" pitchFamily="50" charset="-127"/>
                      </a:endParaRPr>
                    </a:p>
                  </a:txBody>
                  <a:tcPr marL="7121" marR="36000" marT="7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100" b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현대산스 Text" panose="020B0600000101010101" pitchFamily="50" charset="-127"/>
                        </a:rPr>
                        <a:t>53.1%</a:t>
                      </a:r>
                      <a:endParaRPr lang="ko-KR" altLang="en-US" sz="1100" b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  <a:ea typeface="현대산스 Text" panose="020B0600000101010101" pitchFamily="50" charset="-127"/>
                      </a:endParaRPr>
                    </a:p>
                  </a:txBody>
                  <a:tcPr marL="7121" marR="36000" marT="7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1000" b="1" baseline="0" dirty="0">
                          <a:solidFill>
                            <a:srgbClr val="FF0000"/>
                          </a:solidFill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고객사 </a:t>
                      </a:r>
                      <a:r>
                        <a:rPr lang="ko-KR" altLang="en-US" sz="1000" b="1" baseline="0" dirty="0" err="1">
                          <a:solidFill>
                            <a:srgbClr val="FF0000"/>
                          </a:solidFill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당일치</a:t>
                      </a:r>
                      <a:r>
                        <a:rPr lang="ko-KR" altLang="en-US" sz="1000" b="1" baseline="0" dirty="0">
                          <a:solidFill>
                            <a:srgbClr val="FF0000"/>
                          </a:solidFill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 납품으로 인해 고정운반비 책정</a:t>
                      </a:r>
                      <a:endParaRPr lang="en-US" altLang="ko-KR" sz="1000" b="1" baseline="0" dirty="0">
                        <a:solidFill>
                          <a:srgbClr val="FF0000"/>
                        </a:solidFill>
                        <a:latin typeface="현대산스 Text" panose="020B0600000101010101" pitchFamily="50" charset="-127"/>
                        <a:ea typeface="현대산스 Text" panose="020B0600000101010101" pitchFamily="50" charset="-127"/>
                      </a:endParaRPr>
                    </a:p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1000" b="1" baseline="0" dirty="0">
                          <a:solidFill>
                            <a:srgbClr val="FF0000"/>
                          </a:solidFill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연비개선</a:t>
                      </a:r>
                      <a:r>
                        <a:rPr lang="en-US" altLang="ko-KR" sz="1000" b="1" baseline="0" dirty="0">
                          <a:solidFill>
                            <a:srgbClr val="FF0000"/>
                          </a:solidFill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 1.0 </a:t>
                      </a:r>
                      <a:r>
                        <a:rPr lang="ko-KR" altLang="en-US" sz="1000" b="1" baseline="0" dirty="0">
                          <a:solidFill>
                            <a:srgbClr val="FF0000"/>
                          </a:solidFill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서산</a:t>
                      </a:r>
                      <a:r>
                        <a:rPr lang="en-US" altLang="ko-KR" sz="1000" b="1" baseline="0" dirty="0">
                          <a:solidFill>
                            <a:srgbClr val="FF0000"/>
                          </a:solidFill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1</a:t>
                      </a:r>
                      <a:r>
                        <a:rPr lang="ko-KR" altLang="en-US" sz="1000" b="1" baseline="0" dirty="0">
                          <a:solidFill>
                            <a:srgbClr val="FF0000"/>
                          </a:solidFill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공장 이관으로 수량 감소</a:t>
                      </a:r>
                      <a:endParaRPr lang="ko-KR" altLang="en-US" sz="1000" b="1" dirty="0">
                        <a:solidFill>
                          <a:srgbClr val="FF0000"/>
                        </a:solidFill>
                        <a:latin typeface="현대산스 Text" panose="020B0600000101010101" pitchFamily="50" charset="-127"/>
                        <a:ea typeface="현대산스 Text" panose="020B0600000101010101" pitchFamily="50" charset="-127"/>
                      </a:endParaRPr>
                    </a:p>
                  </a:txBody>
                  <a:tcPr marL="7121" marR="7121" marT="7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991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rgbClr val="FF0000"/>
                          </a:solidFill>
                          <a:effectLst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세정</a:t>
                      </a:r>
                    </a:p>
                  </a:txBody>
                  <a:tcPr marL="7121" marR="7121" marT="71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  <a:ea typeface="현대산스 Text" panose="020B0600000101010101" pitchFamily="50" charset="-127"/>
                        </a:rPr>
                        <a:t>3</a:t>
                      </a:r>
                      <a:endParaRPr lang="ko-KR" altLang="en-US" sz="1100" b="0" i="0" u="none" strike="noStrike" dirty="0">
                        <a:solidFill>
                          <a:srgbClr val="FF0000"/>
                        </a:solidFill>
                        <a:effectLst/>
                        <a:latin typeface="Arial Narrow" panose="020B0606020202030204" pitchFamily="34" charset="0"/>
                        <a:ea typeface="현대산스 Text" panose="020B0600000101010101" pitchFamily="50" charset="-127"/>
                      </a:endParaRPr>
                    </a:p>
                  </a:txBody>
                  <a:tcPr marL="7121" marR="36000" marT="7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  <a:ea typeface="현대산스 Text" panose="020B0600000101010101" pitchFamily="50" charset="-127"/>
                        </a:rPr>
                        <a:t>5</a:t>
                      </a:r>
                      <a:endParaRPr lang="ko-KR" altLang="en-US" sz="1100" b="0" i="0" u="none" strike="noStrike" dirty="0">
                        <a:solidFill>
                          <a:srgbClr val="FF0000"/>
                        </a:solidFill>
                        <a:effectLst/>
                        <a:latin typeface="Arial Narrow" panose="020B0606020202030204" pitchFamily="34" charset="0"/>
                        <a:ea typeface="현대산스 Text" panose="020B0600000101010101" pitchFamily="50" charset="-127"/>
                      </a:endParaRPr>
                    </a:p>
                  </a:txBody>
                  <a:tcPr marL="7121" marR="36000" marT="7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100" b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현대산스 Text" panose="020B0600000101010101" pitchFamily="50" charset="-127"/>
                        </a:rPr>
                        <a:t>2,247</a:t>
                      </a:r>
                      <a:endParaRPr lang="ko-KR" altLang="en-US" sz="1100" b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  <a:ea typeface="현대산스 Text" panose="020B0600000101010101" pitchFamily="50" charset="-127"/>
                      </a:endParaRPr>
                    </a:p>
                  </a:txBody>
                  <a:tcPr marL="7121" marR="36000" marT="7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100" b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현대산스 Text" panose="020B0600000101010101" pitchFamily="50" charset="-127"/>
                        </a:rPr>
                        <a:t>449</a:t>
                      </a:r>
                    </a:p>
                  </a:txBody>
                  <a:tcPr marL="7121" marR="36000" marT="7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100" b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현대산스 Text" panose="020B0600000101010101" pitchFamily="50" charset="-127"/>
                        </a:rPr>
                        <a:t>960</a:t>
                      </a:r>
                      <a:endParaRPr lang="ko-KR" altLang="en-US" sz="1100" b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  <a:ea typeface="현대산스 Text" panose="020B0600000101010101" pitchFamily="50" charset="-127"/>
                      </a:endParaRPr>
                    </a:p>
                  </a:txBody>
                  <a:tcPr marL="7121" marR="36000" marT="7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100" b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현대산스 Text" panose="020B0600000101010101" pitchFamily="50" charset="-127"/>
                        </a:rPr>
                        <a:t>46.7%</a:t>
                      </a:r>
                      <a:endParaRPr lang="ko-KR" altLang="en-US" sz="1100" b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  <a:ea typeface="현대산스 Text" panose="020B0600000101010101" pitchFamily="50" charset="-127"/>
                      </a:endParaRPr>
                    </a:p>
                  </a:txBody>
                  <a:tcPr marL="7121" marR="36000" marT="7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Tx/>
                        <a:buNone/>
                      </a:pPr>
                      <a:r>
                        <a:rPr lang="en-US" altLang="ko-KR" sz="1000" b="1" dirty="0">
                          <a:solidFill>
                            <a:srgbClr val="FF0000"/>
                          </a:solidFill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- </a:t>
                      </a:r>
                      <a:r>
                        <a:rPr lang="ko-KR" altLang="en-US" sz="1000" b="1" dirty="0">
                          <a:solidFill>
                            <a:srgbClr val="FF0000"/>
                          </a:solidFill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현대자동차 아산공장 파업으로 인해 </a:t>
                      </a:r>
                      <a:r>
                        <a:rPr lang="en-US" altLang="ko-KR" sz="1000" b="1" dirty="0">
                          <a:solidFill>
                            <a:srgbClr val="FF0000"/>
                          </a:solidFill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1</a:t>
                      </a:r>
                      <a:r>
                        <a:rPr lang="ko-KR" altLang="en-US" sz="1000" b="1" dirty="0">
                          <a:solidFill>
                            <a:srgbClr val="FF0000"/>
                          </a:solidFill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회당 발주 수량 감소 </a:t>
                      </a:r>
                      <a:r>
                        <a:rPr lang="en-US" altLang="ko-KR" sz="1000" b="1" dirty="0">
                          <a:solidFill>
                            <a:srgbClr val="FF0000"/>
                          </a:solidFill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-&gt; </a:t>
                      </a:r>
                      <a:r>
                        <a:rPr lang="ko-KR" altLang="en-US" sz="1000" b="1" dirty="0" err="1">
                          <a:solidFill>
                            <a:srgbClr val="FF0000"/>
                          </a:solidFill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적재율</a:t>
                      </a:r>
                      <a:r>
                        <a:rPr lang="ko-KR" altLang="en-US" sz="1000" b="1" dirty="0">
                          <a:solidFill>
                            <a:srgbClr val="FF0000"/>
                          </a:solidFill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 ↓</a:t>
                      </a:r>
                    </a:p>
                  </a:txBody>
                  <a:tcPr marL="7121" marR="7121" marT="7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991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rgbClr val="0000FF"/>
                          </a:solidFill>
                          <a:effectLst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영남권</a:t>
                      </a:r>
                    </a:p>
                  </a:txBody>
                  <a:tcPr marL="7121" marR="7121" marT="71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현대산스 Text" panose="020B0600000101010101" pitchFamily="50" charset="-127"/>
                        </a:rPr>
                        <a:t>16</a:t>
                      </a:r>
                      <a:endParaRPr lang="ko-KR" altLang="en-US" sz="1100" b="0" i="0" u="none" strike="noStrike" dirty="0">
                        <a:solidFill>
                          <a:srgbClr val="0000FF"/>
                        </a:solidFill>
                        <a:effectLst/>
                        <a:latin typeface="Arial Narrow" panose="020B0606020202030204" pitchFamily="34" charset="0"/>
                        <a:ea typeface="현대산스 Text" panose="020B0600000101010101" pitchFamily="50" charset="-127"/>
                      </a:endParaRPr>
                    </a:p>
                  </a:txBody>
                  <a:tcPr marL="7121" marR="36000" marT="7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현대산스 Text" panose="020B0600000101010101" pitchFamily="50" charset="-127"/>
                        </a:rPr>
                        <a:t>11</a:t>
                      </a:r>
                      <a:endParaRPr lang="ko-KR" altLang="en-US" sz="1100" b="0" i="0" u="none" strike="noStrike" dirty="0">
                        <a:solidFill>
                          <a:srgbClr val="0000FF"/>
                        </a:solidFill>
                        <a:effectLst/>
                        <a:latin typeface="Arial Narrow" panose="020B0606020202030204" pitchFamily="34" charset="0"/>
                        <a:ea typeface="현대산스 Text" panose="020B0600000101010101" pitchFamily="50" charset="-127"/>
                      </a:endParaRPr>
                    </a:p>
                  </a:txBody>
                  <a:tcPr marL="7121" marR="36000" marT="7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100" b="0" dirty="0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현대산스 Text" panose="020B0600000101010101" pitchFamily="50" charset="-127"/>
                        </a:rPr>
                        <a:t>24,666</a:t>
                      </a:r>
                      <a:endParaRPr lang="ko-KR" altLang="en-US" sz="1100" b="0" dirty="0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현대산스 Text" panose="020B0600000101010101" pitchFamily="50" charset="-127"/>
                      </a:endParaRPr>
                    </a:p>
                  </a:txBody>
                  <a:tcPr marL="7121" marR="36000" marT="7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100" b="0" dirty="0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현대산스 Text" panose="020B0600000101010101" pitchFamily="50" charset="-127"/>
                        </a:rPr>
                        <a:t>2,242</a:t>
                      </a:r>
                      <a:endParaRPr lang="ko-KR" altLang="en-US" sz="1100" b="0" dirty="0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현대산스 Text" panose="020B0600000101010101" pitchFamily="50" charset="-127"/>
                      </a:endParaRPr>
                    </a:p>
                  </a:txBody>
                  <a:tcPr marL="7121" marR="36000" marT="7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100" b="0" dirty="0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현대산스 Text" panose="020B0600000101010101" pitchFamily="50" charset="-127"/>
                        </a:rPr>
                        <a:t>2,400</a:t>
                      </a:r>
                      <a:endParaRPr lang="ko-KR" altLang="en-US" sz="1100" b="0" dirty="0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현대산스 Text" panose="020B0600000101010101" pitchFamily="50" charset="-127"/>
                      </a:endParaRPr>
                    </a:p>
                  </a:txBody>
                  <a:tcPr marL="7121" marR="36000" marT="7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100" b="0" dirty="0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현대산스 Text" panose="020B0600000101010101" pitchFamily="50" charset="-127"/>
                        </a:rPr>
                        <a:t>93.4%</a:t>
                      </a:r>
                      <a:endParaRPr lang="ko-KR" altLang="en-US" sz="1100" b="0" dirty="0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현대산스 Text" panose="020B0600000101010101" pitchFamily="50" charset="-127"/>
                      </a:endParaRPr>
                    </a:p>
                  </a:txBody>
                  <a:tcPr marL="7121" marR="36000" marT="7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Tx/>
                        <a:buNone/>
                      </a:pPr>
                      <a:r>
                        <a:rPr lang="en-US" altLang="ko-KR" sz="1000" b="1" dirty="0">
                          <a:solidFill>
                            <a:srgbClr val="0000FF"/>
                          </a:solidFill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- </a:t>
                      </a:r>
                      <a:r>
                        <a:rPr lang="ko-KR" altLang="en-US" sz="1000" b="1" dirty="0">
                          <a:solidFill>
                            <a:srgbClr val="0000FF"/>
                          </a:solidFill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영남권 </a:t>
                      </a:r>
                      <a:r>
                        <a:rPr lang="ko-KR" altLang="en-US" sz="1000" b="1" dirty="0" err="1">
                          <a:solidFill>
                            <a:srgbClr val="0000FF"/>
                          </a:solidFill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합짐</a:t>
                      </a:r>
                      <a:r>
                        <a:rPr lang="ko-KR" altLang="en-US" sz="1000" b="1" dirty="0">
                          <a:solidFill>
                            <a:srgbClr val="0000FF"/>
                          </a:solidFill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 운행으로 인한 </a:t>
                      </a:r>
                      <a:r>
                        <a:rPr lang="ko-KR" altLang="en-US" sz="1000" b="1" dirty="0" err="1">
                          <a:solidFill>
                            <a:srgbClr val="0000FF"/>
                          </a:solidFill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적재율</a:t>
                      </a:r>
                      <a:r>
                        <a:rPr lang="ko-KR" altLang="en-US" sz="1000" b="1" dirty="0">
                          <a:solidFill>
                            <a:srgbClr val="0000FF"/>
                          </a:solidFill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 최대 운행</a:t>
                      </a:r>
                    </a:p>
                  </a:txBody>
                  <a:tcPr marL="7121" marR="7121" marT="7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C1580E5E-A391-1D4F-68BD-5DFE3FE0543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41" b="10168"/>
          <a:stretch>
            <a:fillRect/>
          </a:stretch>
        </p:blipFill>
        <p:spPr>
          <a:xfrm>
            <a:off x="155575" y="762183"/>
            <a:ext cx="9594850" cy="6034426"/>
          </a:xfrm>
          <a:prstGeom prst="rect">
            <a:avLst/>
          </a:prstGeom>
        </p:spPr>
      </p:pic>
      <p:sp>
        <p:nvSpPr>
          <p:cNvPr id="5123" name="제목 1"/>
          <p:cNvSpPr>
            <a:spLocks noGrp="1"/>
          </p:cNvSpPr>
          <p:nvPr>
            <p:ph type="ctrTitle"/>
          </p:nvPr>
        </p:nvSpPr>
        <p:spPr>
          <a:xfrm>
            <a:off x="311150" y="217488"/>
            <a:ext cx="6873875" cy="508000"/>
          </a:xfrm>
        </p:spPr>
        <p:txBody>
          <a:bodyPr/>
          <a:lstStyle/>
          <a:p>
            <a:r>
              <a:rPr lang="ko-KR" altLang="en-US" sz="2400" b="1" dirty="0">
                <a:latin typeface="현대산스 Head Light" panose="020B0600000101010101" pitchFamily="50" charset="-127"/>
                <a:ea typeface="현대산스 Head Light" panose="020B0600000101010101" pitchFamily="50" charset="-127"/>
              </a:rPr>
              <a:t>▣ </a:t>
            </a:r>
            <a:r>
              <a:rPr lang="en-US" altLang="ko-KR" sz="2400" b="1" dirty="0">
                <a:latin typeface="현대산스 Head Light" panose="020B0600000101010101" pitchFamily="50" charset="-127"/>
                <a:ea typeface="현대산스 Head Light" panose="020B0600000101010101" pitchFamily="50" charset="-127"/>
              </a:rPr>
              <a:t>12</a:t>
            </a:r>
            <a:r>
              <a:rPr lang="ko-KR" altLang="en-US" sz="2400" b="1" dirty="0">
                <a:latin typeface="현대산스 Head Light" panose="020B0600000101010101" pitchFamily="50" charset="-127"/>
                <a:ea typeface="현대산스 Head Light" panose="020B0600000101010101" pitchFamily="50" charset="-127"/>
              </a:rPr>
              <a:t>개월 납품수량 </a:t>
            </a:r>
            <a:r>
              <a:rPr lang="ko-KR" altLang="en-US" sz="2400" b="1" dirty="0" err="1">
                <a:latin typeface="현대산스 Head Light" panose="020B0600000101010101" pitchFamily="50" charset="-127"/>
                <a:ea typeface="현대산스 Head Light" panose="020B0600000101010101" pitchFamily="50" charset="-127"/>
              </a:rPr>
              <a:t>월계획</a:t>
            </a:r>
            <a:r>
              <a:rPr lang="ko-KR" altLang="en-US" sz="2400" b="1" dirty="0">
                <a:latin typeface="현대산스 Head Light" panose="020B0600000101010101" pitchFamily="50" charset="-127"/>
                <a:ea typeface="현대산스 Head Light" panose="020B0600000101010101" pitchFamily="50" charset="-127"/>
              </a:rPr>
              <a:t> 대비</a:t>
            </a:r>
            <a:r>
              <a:rPr lang="en-US" altLang="ko-KR" sz="2400" b="1" dirty="0">
                <a:latin typeface="현대산스 Head Light" panose="020B0600000101010101" pitchFamily="50" charset="-127"/>
                <a:ea typeface="현대산스 Head Light" panose="020B0600000101010101" pitchFamily="50" charset="-127"/>
              </a:rPr>
              <a:t> </a:t>
            </a:r>
            <a:r>
              <a:rPr lang="ko-KR" altLang="en-US" sz="2400" b="1" dirty="0">
                <a:latin typeface="현대산스 Head Light" panose="020B0600000101010101" pitchFamily="50" charset="-127"/>
                <a:ea typeface="현대산스 Head Light" panose="020B0600000101010101" pitchFamily="50" charset="-127"/>
              </a:rPr>
              <a:t>실적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663A584-F192-4479-8392-23313FF1C7F1}" type="slidenum">
              <a:rPr lang="ko-KR" altLang="en-US" smtClean="0">
                <a:latin typeface="현대산스 Head Light" panose="020B0600000101010101" pitchFamily="50" charset="-127"/>
                <a:ea typeface="현대산스 Head Light" panose="020B0600000101010101" pitchFamily="50" charset="-127"/>
              </a:rPr>
              <a:pPr>
                <a:defRPr/>
              </a:pPr>
              <a:t>3</a:t>
            </a:fld>
            <a:r>
              <a:rPr lang="en-US" altLang="ko-KR">
                <a:latin typeface="현대산스 Head Light" panose="020B0600000101010101" pitchFamily="50" charset="-127"/>
                <a:ea typeface="현대산스 Head Light" panose="020B0600000101010101" pitchFamily="50" charset="-127"/>
              </a:rPr>
              <a:t>/6</a:t>
            </a:r>
            <a:endParaRPr lang="ko-KR" altLang="en-US" dirty="0">
              <a:latin typeface="현대산스 Head Light" panose="020B0600000101010101" pitchFamily="50" charset="-127"/>
              <a:ea typeface="현대산스 Head Light" panose="020B0600000101010101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889778" y="818108"/>
            <a:ext cx="92271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현대산스 Text" panose="020B0600000101010101" pitchFamily="50" charset="-127"/>
                <a:ea typeface="현대산스 Text" panose="020B0600000101010101" pitchFamily="50" charset="-127"/>
              </a:rPr>
              <a:t>단위 </a:t>
            </a:r>
            <a:r>
              <a:rPr lang="en-US" altLang="ko-KR" sz="1000" dirty="0">
                <a:latin typeface="현대산스 Text" panose="020B0600000101010101" pitchFamily="50" charset="-127"/>
                <a:ea typeface="현대산스 Text" panose="020B0600000101010101" pitchFamily="50" charset="-127"/>
              </a:rPr>
              <a:t>: EA</a:t>
            </a:r>
            <a:endParaRPr lang="ko-KR" altLang="en-US" sz="1000" dirty="0">
              <a:latin typeface="현대산스 Text" panose="020B0600000101010101" pitchFamily="50" charset="-127"/>
              <a:ea typeface="현대산스 Text" panose="020B0600000101010101" pitchFamily="50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3509" y="2569818"/>
            <a:ext cx="709844" cy="246221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sz="1000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86,385</a:t>
            </a:r>
            <a:endParaRPr lang="ko-KR" altLang="en-US" sz="1000" dirty="0">
              <a:solidFill>
                <a:srgbClr val="C00000"/>
              </a:solidFill>
              <a:latin typeface="현대산스 Text" panose="020B0600000101010101" pitchFamily="50" charset="-127"/>
              <a:ea typeface="현대산스 Text" panose="020B0600000101010101" pitchFamily="50" charset="-127"/>
            </a:endParaRPr>
          </a:p>
        </p:txBody>
      </p:sp>
      <p:sp>
        <p:nvSpPr>
          <p:cNvPr id="9" name="Text Box 2"/>
          <p:cNvSpPr txBox="1">
            <a:spLocks noChangeArrowheads="1"/>
          </p:cNvSpPr>
          <p:nvPr/>
        </p:nvSpPr>
        <p:spPr bwMode="auto">
          <a:xfrm>
            <a:off x="8955956" y="436342"/>
            <a:ext cx="1043879" cy="2515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2000" tIns="0" rIns="0" bIns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1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현대산스 Head Light" panose="020B0600000101010101" pitchFamily="50" charset="-127"/>
                <a:ea typeface="현대산스 Head Light" panose="020B0600000101010101" pitchFamily="50" charset="-127"/>
              </a:rPr>
              <a:t>2026.9.1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D6E2DCFC-B4D2-9D1A-E7BB-52BE660BE6F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06" b="3935"/>
          <a:stretch>
            <a:fillRect/>
          </a:stretch>
        </p:blipFill>
        <p:spPr>
          <a:xfrm>
            <a:off x="69668" y="1137581"/>
            <a:ext cx="9766663" cy="5289374"/>
          </a:xfrm>
          <a:prstGeom prst="rect">
            <a:avLst/>
          </a:prstGeom>
        </p:spPr>
      </p:pic>
      <p:sp>
        <p:nvSpPr>
          <p:cNvPr id="5123" name="제목 1"/>
          <p:cNvSpPr>
            <a:spLocks noGrp="1"/>
          </p:cNvSpPr>
          <p:nvPr>
            <p:ph type="ctrTitle"/>
          </p:nvPr>
        </p:nvSpPr>
        <p:spPr>
          <a:xfrm>
            <a:off x="311150" y="217488"/>
            <a:ext cx="6873875" cy="508000"/>
          </a:xfrm>
        </p:spPr>
        <p:txBody>
          <a:bodyPr/>
          <a:lstStyle/>
          <a:p>
            <a:r>
              <a:rPr lang="ko-KR" altLang="en-US" sz="2400" b="1" dirty="0">
                <a:latin typeface="현대산스 Head Light" panose="020B0600000101010101" pitchFamily="50" charset="-127"/>
                <a:ea typeface="현대산스 Head Light" panose="020B0600000101010101" pitchFamily="50" charset="-127"/>
              </a:rPr>
              <a:t>▣ </a:t>
            </a:r>
            <a:r>
              <a:rPr lang="en-US" altLang="ko-KR" sz="2400" b="1" dirty="0">
                <a:latin typeface="현대산스 Head Light" panose="020B0600000101010101" pitchFamily="50" charset="-127"/>
                <a:ea typeface="현대산스 Head Light" panose="020B0600000101010101" pitchFamily="50" charset="-127"/>
              </a:rPr>
              <a:t>12</a:t>
            </a:r>
            <a:r>
              <a:rPr lang="ko-KR" altLang="en-US" sz="2400" b="1" dirty="0">
                <a:latin typeface="현대산스 Head Light" panose="020B0600000101010101" pitchFamily="50" charset="-127"/>
                <a:ea typeface="현대산스 Head Light" panose="020B0600000101010101" pitchFamily="50" charset="-127"/>
              </a:rPr>
              <a:t>개월 운반비 </a:t>
            </a:r>
            <a:r>
              <a:rPr lang="ko-KR" altLang="en-US" sz="2400" b="1" dirty="0" err="1">
                <a:latin typeface="현대산스 Head Light" panose="020B0600000101010101" pitchFamily="50" charset="-127"/>
                <a:ea typeface="현대산스 Head Light" panose="020B0600000101010101" pitchFamily="50" charset="-127"/>
              </a:rPr>
              <a:t>월계획</a:t>
            </a:r>
            <a:r>
              <a:rPr lang="ko-KR" altLang="en-US" sz="2400" b="1" dirty="0">
                <a:latin typeface="현대산스 Head Light" panose="020B0600000101010101" pitchFamily="50" charset="-127"/>
                <a:ea typeface="현대산스 Head Light" panose="020B0600000101010101" pitchFamily="50" charset="-127"/>
              </a:rPr>
              <a:t> 대비</a:t>
            </a:r>
            <a:r>
              <a:rPr lang="en-US" altLang="ko-KR" sz="2400" b="1" dirty="0">
                <a:latin typeface="현대산스 Head Light" panose="020B0600000101010101" pitchFamily="50" charset="-127"/>
                <a:ea typeface="현대산스 Head Light" panose="020B0600000101010101" pitchFamily="50" charset="-127"/>
              </a:rPr>
              <a:t> </a:t>
            </a:r>
            <a:r>
              <a:rPr lang="ko-KR" altLang="en-US" sz="2400" b="1" dirty="0">
                <a:latin typeface="현대산스 Head Light" panose="020B0600000101010101" pitchFamily="50" charset="-127"/>
                <a:ea typeface="현대산스 Head Light" panose="020B0600000101010101" pitchFamily="50" charset="-127"/>
              </a:rPr>
              <a:t>실적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663A584-F192-4479-8392-23313FF1C7F1}" type="slidenum">
              <a:rPr lang="ko-KR" altLang="en-US" smtClean="0">
                <a:latin typeface="현대산스 Head Light" panose="020B0600000101010101" pitchFamily="50" charset="-127"/>
                <a:ea typeface="현대산스 Head Light" panose="020B0600000101010101" pitchFamily="50" charset="-127"/>
              </a:rPr>
              <a:pPr>
                <a:defRPr/>
              </a:pPr>
              <a:t>4</a:t>
            </a:fld>
            <a:r>
              <a:rPr lang="en-US" altLang="ko-KR" dirty="0">
                <a:latin typeface="현대산스 Head Light" panose="020B0600000101010101" pitchFamily="50" charset="-127"/>
                <a:ea typeface="현대산스 Head Light" panose="020B0600000101010101" pitchFamily="50" charset="-127"/>
              </a:rPr>
              <a:t>/6</a:t>
            </a:r>
            <a:endParaRPr lang="ko-KR" altLang="en-US" dirty="0">
              <a:latin typeface="현대산스 Head Light" panose="020B0600000101010101" pitchFamily="50" charset="-127"/>
              <a:ea typeface="현대산스 Head Light" panose="020B0600000101010101" pitchFamily="50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927399" y="823852"/>
            <a:ext cx="92271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현대산스 Text" panose="020B0600000101010101" pitchFamily="50" charset="-127"/>
                <a:ea typeface="현대산스 Text" panose="020B0600000101010101" pitchFamily="50" charset="-127"/>
              </a:rPr>
              <a:t>단위 </a:t>
            </a:r>
            <a:r>
              <a:rPr lang="en-US" altLang="ko-KR" sz="1000" dirty="0">
                <a:latin typeface="현대산스 Text" panose="020B0600000101010101" pitchFamily="50" charset="-127"/>
                <a:ea typeface="현대산스 Text" panose="020B0600000101010101" pitchFamily="50" charset="-127"/>
              </a:rPr>
              <a:t>: </a:t>
            </a:r>
            <a:r>
              <a:rPr lang="ko-KR" altLang="en-US" sz="1000" dirty="0">
                <a:latin typeface="현대산스 Text" panose="020B0600000101010101" pitchFamily="50" charset="-127"/>
                <a:ea typeface="현대산스 Text" panose="020B0600000101010101" pitchFamily="50" charset="-127"/>
              </a:rPr>
              <a:t>천원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2658" y="3065082"/>
            <a:ext cx="580468" cy="246221"/>
          </a:xfrm>
          <a:prstGeom prst="rect">
            <a:avLst/>
          </a:prstGeom>
          <a:ln>
            <a:solidFill>
              <a:srgbClr val="92D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sz="1000" dirty="0">
                <a:solidFill>
                  <a:srgbClr val="92D05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38,073</a:t>
            </a:r>
            <a:endParaRPr lang="ko-KR" altLang="en-US" sz="1000" dirty="0">
              <a:solidFill>
                <a:srgbClr val="92D050"/>
              </a:solidFill>
              <a:latin typeface="현대산스 Text" panose="020B0600000101010101" pitchFamily="50" charset="-127"/>
              <a:ea typeface="현대산스 Text" panose="020B0600000101010101" pitchFamily="50" charset="-127"/>
            </a:endParaRPr>
          </a:p>
        </p:txBody>
      </p:sp>
      <p:sp>
        <p:nvSpPr>
          <p:cNvPr id="11" name="Text Box 2"/>
          <p:cNvSpPr txBox="1">
            <a:spLocks noChangeArrowheads="1"/>
          </p:cNvSpPr>
          <p:nvPr/>
        </p:nvSpPr>
        <p:spPr bwMode="auto">
          <a:xfrm>
            <a:off x="8955956" y="436342"/>
            <a:ext cx="1043879" cy="2515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2000" tIns="0" rIns="0" bIns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1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현대산스 Head Light" panose="020B0600000101010101" pitchFamily="50" charset="-127"/>
                <a:ea typeface="현대산스 Head Light" panose="020B0600000101010101" pitchFamily="50" charset="-127"/>
              </a:rPr>
              <a:t>2026.9.1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3B51658D-4499-91C7-EEC0-A7C48DE2294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47" t="586" r="565" b="-586"/>
          <a:stretch>
            <a:fillRect/>
          </a:stretch>
        </p:blipFill>
        <p:spPr>
          <a:xfrm>
            <a:off x="93835" y="1244875"/>
            <a:ext cx="9756277" cy="4420037"/>
          </a:xfrm>
          <a:prstGeom prst="rect">
            <a:avLst/>
          </a:prstGeom>
        </p:spPr>
      </p:pic>
      <p:sp>
        <p:nvSpPr>
          <p:cNvPr id="5123" name="제목 1"/>
          <p:cNvSpPr>
            <a:spLocks noGrp="1"/>
          </p:cNvSpPr>
          <p:nvPr>
            <p:ph type="ctrTitle"/>
          </p:nvPr>
        </p:nvSpPr>
        <p:spPr>
          <a:xfrm>
            <a:off x="311150" y="217488"/>
            <a:ext cx="6873875" cy="508000"/>
          </a:xfrm>
        </p:spPr>
        <p:txBody>
          <a:bodyPr/>
          <a:lstStyle/>
          <a:p>
            <a:r>
              <a:rPr lang="ko-KR" altLang="en-US" sz="2400" b="1" dirty="0">
                <a:latin typeface="현대산스 Head Light" panose="020B0600000101010101" pitchFamily="50" charset="-127"/>
                <a:ea typeface="현대산스 Head Light" panose="020B0600000101010101" pitchFamily="50" charset="-127"/>
              </a:rPr>
              <a:t>▣ </a:t>
            </a:r>
            <a:r>
              <a:rPr lang="en-US" altLang="ko-KR" sz="2400" b="1" dirty="0">
                <a:latin typeface="현대산스 Head Light" panose="020B0600000101010101" pitchFamily="50" charset="-127"/>
                <a:ea typeface="현대산스 Head Light" panose="020B0600000101010101" pitchFamily="50" charset="-127"/>
              </a:rPr>
              <a:t>12</a:t>
            </a:r>
            <a:r>
              <a:rPr lang="ko-KR" altLang="en-US" sz="2400" b="1" dirty="0">
                <a:latin typeface="현대산스 Head Light" panose="020B0600000101010101" pitchFamily="50" charset="-127"/>
                <a:ea typeface="현대산스 Head Light" panose="020B0600000101010101" pitchFamily="50" charset="-127"/>
              </a:rPr>
              <a:t>개월 실적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663A584-F192-4479-8392-23313FF1C7F1}" type="slidenum">
              <a:rPr lang="ko-KR" altLang="en-US" smtClean="0">
                <a:latin typeface="현대산스 Head Light" panose="020B0600000101010101" pitchFamily="50" charset="-127"/>
                <a:ea typeface="현대산스 Head Light" panose="020B0600000101010101" pitchFamily="50" charset="-127"/>
              </a:rPr>
              <a:pPr>
                <a:defRPr/>
              </a:pPr>
              <a:t>5</a:t>
            </a:fld>
            <a:r>
              <a:rPr lang="en-US" altLang="ko-KR">
                <a:latin typeface="현대산스 Head Light" panose="020B0600000101010101" pitchFamily="50" charset="-127"/>
                <a:ea typeface="현대산스 Head Light" panose="020B0600000101010101" pitchFamily="50" charset="-127"/>
              </a:rPr>
              <a:t>/6</a:t>
            </a:r>
            <a:endParaRPr lang="ko-KR" altLang="en-US" dirty="0">
              <a:latin typeface="현대산스 Head Light" panose="020B0600000101010101" pitchFamily="50" charset="-127"/>
              <a:ea typeface="현대산스 Head Light" panose="020B0600000101010101" pitchFamily="50" charset="-127"/>
            </a:endParaRPr>
          </a:p>
        </p:txBody>
      </p:sp>
      <p:sp>
        <p:nvSpPr>
          <p:cNvPr id="13" name="직사각형 12"/>
          <p:cNvSpPr/>
          <p:nvPr/>
        </p:nvSpPr>
        <p:spPr bwMode="auto">
          <a:xfrm>
            <a:off x="193963" y="5702530"/>
            <a:ext cx="9518073" cy="141317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927399" y="823852"/>
            <a:ext cx="92271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현대산스 Text" panose="020B0600000101010101" pitchFamily="50" charset="-127"/>
                <a:ea typeface="현대산스 Text" panose="020B0600000101010101" pitchFamily="50" charset="-127"/>
              </a:rPr>
              <a:t>단위 </a:t>
            </a:r>
            <a:r>
              <a:rPr lang="en-US" altLang="ko-KR" sz="1000" dirty="0">
                <a:latin typeface="현대산스 Text" panose="020B0600000101010101" pitchFamily="50" charset="-127"/>
                <a:ea typeface="현대산스 Text" panose="020B0600000101010101" pitchFamily="50" charset="-127"/>
              </a:rPr>
              <a:t>: EA/</a:t>
            </a:r>
            <a:r>
              <a:rPr lang="ko-KR" altLang="en-US" sz="1000" dirty="0">
                <a:latin typeface="현대산스 Text" panose="020B0600000101010101" pitchFamily="50" charset="-127"/>
                <a:ea typeface="현대산스 Text" panose="020B0600000101010101" pitchFamily="50" charset="-127"/>
              </a:rPr>
              <a:t>천원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37165" y="2639888"/>
            <a:ext cx="580468" cy="246221"/>
          </a:xfrm>
          <a:prstGeom prst="rect">
            <a:avLst/>
          </a:prstGeom>
          <a:ln>
            <a:solidFill>
              <a:srgbClr val="0000FF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sz="1000" dirty="0">
                <a:solidFill>
                  <a:srgbClr val="0000FF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38,073</a:t>
            </a:r>
            <a:endParaRPr lang="ko-KR" altLang="en-US" sz="1000" dirty="0">
              <a:solidFill>
                <a:srgbClr val="0000FF"/>
              </a:solidFill>
              <a:latin typeface="현대산스 Text" panose="020B0600000101010101" pitchFamily="50" charset="-127"/>
              <a:ea typeface="현대산스 Text" panose="020B0600000101010101" pitchFamily="50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138844" y="1850951"/>
            <a:ext cx="709844" cy="246221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sz="1000" dirty="0">
                <a:solidFill>
                  <a:srgbClr val="92D05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86,385</a:t>
            </a:r>
            <a:endParaRPr lang="ko-KR" altLang="en-US" sz="1000" dirty="0">
              <a:solidFill>
                <a:srgbClr val="92D050"/>
              </a:solidFill>
              <a:latin typeface="현대산스 Text" panose="020B0600000101010101" pitchFamily="50" charset="-127"/>
              <a:ea typeface="현대산스 Text" panose="020B0600000101010101" pitchFamily="50" charset="-127"/>
            </a:endParaRPr>
          </a:p>
        </p:txBody>
      </p:sp>
      <p:sp>
        <p:nvSpPr>
          <p:cNvPr id="14" name="Text Box 2"/>
          <p:cNvSpPr txBox="1">
            <a:spLocks noChangeArrowheads="1"/>
          </p:cNvSpPr>
          <p:nvPr/>
        </p:nvSpPr>
        <p:spPr bwMode="auto">
          <a:xfrm>
            <a:off x="8955956" y="436342"/>
            <a:ext cx="1043879" cy="2515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2000" tIns="0" rIns="0" bIns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1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현대산스 Head Light" panose="020B0600000101010101" pitchFamily="50" charset="-127"/>
                <a:ea typeface="현대산스 Head Light" panose="020B0600000101010101" pitchFamily="50" charset="-127"/>
              </a:rPr>
              <a:t>2026.9.1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제목 1"/>
          <p:cNvSpPr>
            <a:spLocks noGrp="1"/>
          </p:cNvSpPr>
          <p:nvPr>
            <p:ph type="ctrTitle"/>
          </p:nvPr>
        </p:nvSpPr>
        <p:spPr>
          <a:xfrm>
            <a:off x="311150" y="217488"/>
            <a:ext cx="6873875" cy="508000"/>
          </a:xfrm>
        </p:spPr>
        <p:txBody>
          <a:bodyPr/>
          <a:lstStyle/>
          <a:p>
            <a:r>
              <a:rPr lang="ko-KR" altLang="en-US" sz="2400" b="1" dirty="0">
                <a:latin typeface="현대산스 Head Light" panose="020B0600000101010101" pitchFamily="50" charset="-127"/>
                <a:ea typeface="현대산스 Head Light" panose="020B0600000101010101" pitchFamily="50" charset="-127"/>
              </a:rPr>
              <a:t>▣ </a:t>
            </a:r>
            <a:r>
              <a:rPr lang="en-US" altLang="ko-KR" sz="2400" b="1" dirty="0">
                <a:latin typeface="현대산스 Head Light" panose="020B0600000101010101" pitchFamily="50" charset="-127"/>
                <a:ea typeface="현대산스 Head Light" panose="020B0600000101010101" pitchFamily="50" charset="-127"/>
              </a:rPr>
              <a:t>26</a:t>
            </a:r>
            <a:r>
              <a:rPr lang="ko-KR" altLang="en-US" sz="2400" b="1" dirty="0">
                <a:latin typeface="현대산스 Head Light" panose="020B0600000101010101" pitchFamily="50" charset="-127"/>
                <a:ea typeface="현대산스 Head Light" panose="020B0600000101010101" pitchFamily="50" charset="-127"/>
              </a:rPr>
              <a:t>년 </a:t>
            </a:r>
            <a:r>
              <a:rPr lang="en-US" altLang="ko-KR" sz="2400" b="1" dirty="0">
                <a:latin typeface="현대산스 Head Light" panose="020B0600000101010101" pitchFamily="50" charset="-127"/>
                <a:ea typeface="현대산스 Head Light" panose="020B0600000101010101" pitchFamily="50" charset="-127"/>
              </a:rPr>
              <a:t>8</a:t>
            </a:r>
            <a:r>
              <a:rPr lang="ko-KR" altLang="en-US" sz="2400" b="1" dirty="0">
                <a:latin typeface="현대산스 Head Light" panose="020B0600000101010101" pitchFamily="50" charset="-127"/>
                <a:ea typeface="현대산스 Head Light" panose="020B0600000101010101" pitchFamily="50" charset="-127"/>
              </a:rPr>
              <a:t>월 운반비 계획</a:t>
            </a:r>
          </a:p>
        </p:txBody>
      </p:sp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7447561"/>
              </p:ext>
            </p:extLst>
          </p:nvPr>
        </p:nvGraphicFramePr>
        <p:xfrm>
          <a:off x="311149" y="5595260"/>
          <a:ext cx="9314989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149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3458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aseline="0" dirty="0">
                          <a:solidFill>
                            <a:srgbClr val="0000FF"/>
                          </a:solidFill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※ </a:t>
                      </a:r>
                      <a:r>
                        <a:rPr lang="ko-KR" altLang="en-US" sz="1200" baseline="0" dirty="0">
                          <a:solidFill>
                            <a:srgbClr val="0000FF"/>
                          </a:solidFill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당진 </a:t>
                      </a:r>
                      <a:r>
                        <a:rPr lang="en-US" altLang="ko-KR" sz="1200" baseline="0" dirty="0">
                          <a:solidFill>
                            <a:srgbClr val="0000FF"/>
                          </a:solidFill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= </a:t>
                      </a:r>
                      <a:r>
                        <a:rPr lang="ko-KR" altLang="en-US" sz="1200" baseline="0" dirty="0">
                          <a:solidFill>
                            <a:srgbClr val="0000FF"/>
                          </a:solidFill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매출 및 수량 미포함 </a:t>
                      </a:r>
                      <a:r>
                        <a:rPr lang="en-US" altLang="ko-KR" sz="1200" baseline="0" dirty="0">
                          <a:solidFill>
                            <a:srgbClr val="0000FF"/>
                          </a:solidFill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(</a:t>
                      </a:r>
                      <a:r>
                        <a:rPr lang="ko-KR" altLang="en-US" sz="1200" baseline="0" dirty="0">
                          <a:solidFill>
                            <a:srgbClr val="0000FF"/>
                          </a:solidFill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합계</a:t>
                      </a:r>
                      <a:r>
                        <a:rPr lang="en-US" altLang="ko-KR" sz="1200" baseline="0" dirty="0">
                          <a:solidFill>
                            <a:srgbClr val="0000FF"/>
                          </a:solidFill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)</a:t>
                      </a:r>
                      <a:r>
                        <a:rPr lang="ko-KR" altLang="en-US" sz="1200" baseline="0" dirty="0">
                          <a:solidFill>
                            <a:srgbClr val="0000FF"/>
                          </a:solidFill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 </a:t>
                      </a:r>
                      <a:r>
                        <a:rPr lang="en-US" altLang="ko-KR" sz="1200" baseline="0" dirty="0">
                          <a:solidFill>
                            <a:srgbClr val="0000FF"/>
                          </a:solidFill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/ </a:t>
                      </a:r>
                      <a:r>
                        <a:rPr lang="ko-KR" altLang="en-US" sz="1200" baseline="0" dirty="0">
                          <a:solidFill>
                            <a:srgbClr val="0000FF"/>
                          </a:solidFill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운반비 포함</a:t>
                      </a:r>
                      <a:endParaRPr lang="en-US" altLang="ko-KR" sz="1200" baseline="0" dirty="0">
                        <a:solidFill>
                          <a:srgbClr val="0000FF"/>
                        </a:solidFill>
                        <a:latin typeface="현대산스 Text" panose="020B0600000101010101" pitchFamily="50" charset="-127"/>
                        <a:ea typeface="현대산스 Text" panose="020B0600000101010101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aseline="0" dirty="0">
                          <a:solidFill>
                            <a:srgbClr val="0000FF"/>
                          </a:solidFill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 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aseline="0" dirty="0">
                          <a:solidFill>
                            <a:srgbClr val="0000FF"/>
                          </a:solidFill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    </a:t>
                      </a:r>
                      <a:r>
                        <a:rPr lang="ko-KR" altLang="en-US" sz="1200" baseline="0" dirty="0">
                          <a:solidFill>
                            <a:srgbClr val="0000FF"/>
                          </a:solidFill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매출 실적 </a:t>
                      </a:r>
                      <a:r>
                        <a:rPr lang="en-US" altLang="ko-KR" sz="1200" baseline="0" dirty="0">
                          <a:solidFill>
                            <a:srgbClr val="0000FF"/>
                          </a:solidFill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= </a:t>
                      </a:r>
                      <a:r>
                        <a:rPr lang="ko-KR" altLang="en-US" sz="1200" baseline="0" dirty="0" err="1">
                          <a:solidFill>
                            <a:srgbClr val="0000FF"/>
                          </a:solidFill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원가팀</a:t>
                      </a:r>
                      <a:r>
                        <a:rPr lang="ko-KR" altLang="en-US" sz="1200" baseline="0" dirty="0">
                          <a:solidFill>
                            <a:srgbClr val="0000FF"/>
                          </a:solidFill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 매출 품의서 기준</a:t>
                      </a:r>
                      <a:endParaRPr lang="en-US" altLang="ko-KR" sz="1200" baseline="0" dirty="0">
                        <a:solidFill>
                          <a:srgbClr val="0000FF"/>
                        </a:solidFill>
                        <a:latin typeface="현대산스 Text" panose="020B0600000101010101" pitchFamily="50" charset="-127"/>
                        <a:ea typeface="현대산스 Text" panose="020B0600000101010101" pitchFamily="50" charset="-127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슬라이드 번호 개체 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663A584-F192-4479-8392-23313FF1C7F1}" type="slidenum">
              <a:rPr lang="ko-KR" altLang="en-US" smtClean="0">
                <a:latin typeface="현대산스 Head Light" panose="020B0600000101010101" pitchFamily="50" charset="-127"/>
                <a:ea typeface="현대산스 Head Light" panose="020B0600000101010101" pitchFamily="50" charset="-127"/>
              </a:rPr>
              <a:pPr>
                <a:defRPr/>
              </a:pPr>
              <a:t>6</a:t>
            </a:fld>
            <a:r>
              <a:rPr lang="en-US" altLang="ko-KR">
                <a:latin typeface="현대산스 Head Light" panose="020B0600000101010101" pitchFamily="50" charset="-127"/>
                <a:ea typeface="현대산스 Head Light" panose="020B0600000101010101" pitchFamily="50" charset="-127"/>
              </a:rPr>
              <a:t>/6</a:t>
            </a:r>
            <a:endParaRPr lang="ko-KR" altLang="en-US" dirty="0">
              <a:latin typeface="현대산스 Head Light" panose="020B0600000101010101" pitchFamily="50" charset="-127"/>
              <a:ea typeface="현대산스 Head Light" panose="020B0600000101010101" pitchFamily="50" charset="-127"/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7364891"/>
              </p:ext>
            </p:extLst>
          </p:nvPr>
        </p:nvGraphicFramePr>
        <p:xfrm>
          <a:off x="311146" y="947529"/>
          <a:ext cx="9314995" cy="4497307"/>
        </p:xfrm>
        <a:graphic>
          <a:graphicData uri="http://schemas.openxmlformats.org/drawingml/2006/table">
            <a:tbl>
              <a:tblPr/>
              <a:tblGrid>
                <a:gridCol w="1504045">
                  <a:extLst>
                    <a:ext uri="{9D8B030D-6E8A-4147-A177-3AD203B41FA5}">
                      <a16:colId xmlns:a16="http://schemas.microsoft.com/office/drawing/2014/main" val="2786020317"/>
                    </a:ext>
                  </a:extLst>
                </a:gridCol>
                <a:gridCol w="1115850">
                  <a:extLst>
                    <a:ext uri="{9D8B030D-6E8A-4147-A177-3AD203B41FA5}">
                      <a16:colId xmlns:a16="http://schemas.microsoft.com/office/drawing/2014/main" val="2813886578"/>
                    </a:ext>
                  </a:extLst>
                </a:gridCol>
                <a:gridCol w="1115850">
                  <a:extLst>
                    <a:ext uri="{9D8B030D-6E8A-4147-A177-3AD203B41FA5}">
                      <a16:colId xmlns:a16="http://schemas.microsoft.com/office/drawing/2014/main" val="3790359914"/>
                    </a:ext>
                  </a:extLst>
                </a:gridCol>
                <a:gridCol w="1115850">
                  <a:extLst>
                    <a:ext uri="{9D8B030D-6E8A-4147-A177-3AD203B41FA5}">
                      <a16:colId xmlns:a16="http://schemas.microsoft.com/office/drawing/2014/main" val="1095188512"/>
                    </a:ext>
                  </a:extLst>
                </a:gridCol>
                <a:gridCol w="1115850">
                  <a:extLst>
                    <a:ext uri="{9D8B030D-6E8A-4147-A177-3AD203B41FA5}">
                      <a16:colId xmlns:a16="http://schemas.microsoft.com/office/drawing/2014/main" val="2767444731"/>
                    </a:ext>
                  </a:extLst>
                </a:gridCol>
                <a:gridCol w="1115850">
                  <a:extLst>
                    <a:ext uri="{9D8B030D-6E8A-4147-A177-3AD203B41FA5}">
                      <a16:colId xmlns:a16="http://schemas.microsoft.com/office/drawing/2014/main" val="501752535"/>
                    </a:ext>
                  </a:extLst>
                </a:gridCol>
                <a:gridCol w="1115850">
                  <a:extLst>
                    <a:ext uri="{9D8B030D-6E8A-4147-A177-3AD203B41FA5}">
                      <a16:colId xmlns:a16="http://schemas.microsoft.com/office/drawing/2014/main" val="3157662038"/>
                    </a:ext>
                  </a:extLst>
                </a:gridCol>
                <a:gridCol w="1115850">
                  <a:extLst>
                    <a:ext uri="{9D8B030D-6E8A-4147-A177-3AD203B41FA5}">
                      <a16:colId xmlns:a16="http://schemas.microsoft.com/office/drawing/2014/main" val="2732348536"/>
                    </a:ext>
                  </a:extLst>
                </a:gridCol>
              </a:tblGrid>
              <a:tr h="204615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 err="1">
                          <a:effectLst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납품처</a:t>
                      </a:r>
                      <a:endParaRPr lang="ko-KR" altLang="en-US" sz="1100" b="0" i="0" u="none" strike="noStrike" dirty="0">
                        <a:effectLst/>
                        <a:latin typeface="현대산스 Text" panose="020B0600000101010101" pitchFamily="50" charset="-127"/>
                        <a:ea typeface="현대산스 Text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effectLst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월계획 </a:t>
                      </a:r>
                      <a:r>
                        <a:rPr lang="en-US" altLang="ko-KR" sz="1100" b="0" i="0" u="none" strike="noStrike">
                          <a:effectLst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(</a:t>
                      </a:r>
                      <a:r>
                        <a:rPr lang="en-US" sz="1100" b="0" i="0" u="none" strike="noStrike">
                          <a:effectLst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A)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effectLst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운반비 실적 평균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946705"/>
                  </a:ext>
                </a:extLst>
              </a:tr>
              <a:tr h="35875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effectLst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수량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effectLst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운반비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effectLst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대당 운반비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effectLst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3</a:t>
                      </a:r>
                      <a:r>
                        <a:rPr lang="ko-KR" altLang="en-US" sz="1100" b="0" i="0" u="none" strike="noStrike" dirty="0">
                          <a:effectLst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개월</a:t>
                      </a:r>
                      <a:endParaRPr lang="en-US" altLang="ko-KR" sz="1100" b="0" i="0" u="none" strike="noStrike" dirty="0">
                        <a:effectLst/>
                        <a:latin typeface="현대산스 Text" panose="020B0600000101010101" pitchFamily="50" charset="-127"/>
                        <a:ea typeface="현대산스 Text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effectLst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6</a:t>
                      </a:r>
                      <a:r>
                        <a:rPr lang="ko-KR" altLang="en-US" sz="1100" b="0" i="0" u="none" strike="noStrike" dirty="0">
                          <a:effectLst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개월</a:t>
                      </a:r>
                      <a:endParaRPr lang="en-US" altLang="ko-KR" sz="1100" b="0" i="0" u="none" strike="noStrike" dirty="0">
                        <a:effectLst/>
                        <a:latin typeface="현대산스 Text" panose="020B0600000101010101" pitchFamily="50" charset="-127"/>
                        <a:ea typeface="현대산스 Text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effectLst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12</a:t>
                      </a:r>
                      <a:r>
                        <a:rPr lang="ko-KR" altLang="en-US" sz="1100" b="0" i="0" u="none" strike="noStrike" dirty="0">
                          <a:effectLst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개월</a:t>
                      </a:r>
                      <a:endParaRPr lang="en-US" altLang="ko-KR" sz="1100" b="0" i="0" u="none" strike="noStrike" dirty="0">
                        <a:effectLst/>
                        <a:latin typeface="현대산스 Text" panose="020B0600000101010101" pitchFamily="50" charset="-127"/>
                        <a:ea typeface="현대산스 Text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effectLst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25</a:t>
                      </a:r>
                      <a:r>
                        <a:rPr lang="ko-KR" altLang="en-US" sz="1100" b="0" i="0" u="none" strike="noStrike" dirty="0">
                          <a:effectLst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2508685"/>
                  </a:ext>
                </a:extLst>
              </a:tr>
              <a:tr h="23189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 err="1">
                          <a:effectLst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글로비스</a:t>
                      </a:r>
                      <a:endParaRPr lang="ko-KR" altLang="en-US" sz="1100" b="0" i="0" u="none" strike="noStrike" dirty="0">
                        <a:effectLst/>
                        <a:latin typeface="현대산스 Text" panose="020B0600000101010101" pitchFamily="50" charset="-127"/>
                        <a:ea typeface="현대산스 Text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effectLst/>
                          <a:latin typeface="Arial Narrow" panose="020B0606020202030204" pitchFamily="34" charset="0"/>
                          <a:ea typeface="현대하모니 L" panose="02020603020101020101" pitchFamily="18" charset="-127"/>
                        </a:rPr>
                        <a:t>14,133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effectLst/>
                          <a:latin typeface="Arial Narrow" panose="020B0606020202030204" pitchFamily="34" charset="0"/>
                          <a:ea typeface="현대산스 Text" panose="020B0600000101010101" pitchFamily="50" charset="-127"/>
                        </a:rPr>
                        <a:t>1,472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b="0" i="0" u="none" strike="noStrike" dirty="0">
                          <a:effectLst/>
                          <a:latin typeface="Arial Narrow" panose="020B0606020202030204" pitchFamily="34" charset="0"/>
                          <a:ea typeface="현대하모니 L" panose="02020603020101020101" pitchFamily="18" charset="-127"/>
                        </a:rPr>
                        <a:t>104</a:t>
                      </a:r>
                    </a:p>
                  </a:txBody>
                  <a:tcPr marL="9525" marR="3600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1,652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1,411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1,493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1,444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5471642"/>
                  </a:ext>
                </a:extLst>
              </a:tr>
              <a:tr h="23189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effectLst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세정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effectLst/>
                          <a:latin typeface="Arial Narrow" panose="020B0606020202030204" pitchFamily="34" charset="0"/>
                          <a:ea typeface="현대하모니 L" panose="02020603020101020101" pitchFamily="18" charset="-127"/>
                        </a:rPr>
                        <a:t>12,179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effectLst/>
                          <a:latin typeface="Arial Narrow" panose="020B0606020202030204" pitchFamily="34" charset="0"/>
                          <a:ea typeface="현대산스 Text" panose="020B0600000101010101" pitchFamily="50" charset="-127"/>
                        </a:rPr>
                        <a:t>2,479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b="0" i="0" u="none" strike="noStrike" dirty="0">
                          <a:effectLst/>
                          <a:latin typeface="Arial Narrow" panose="020B0606020202030204" pitchFamily="34" charset="0"/>
                          <a:ea typeface="현대하모니 L" panose="02020603020101020101" pitchFamily="18" charset="-127"/>
                        </a:rPr>
                        <a:t>204</a:t>
                      </a:r>
                    </a:p>
                  </a:txBody>
                  <a:tcPr marL="9525" marR="3600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2,012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1,768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1,540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1,270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4985961"/>
                  </a:ext>
                </a:extLst>
              </a:tr>
              <a:tr h="23189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effectLst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광주</a:t>
                      </a:r>
                      <a:r>
                        <a:rPr lang="en-US" altLang="ko-KR" sz="1100" b="0" i="0" u="none" strike="noStrike" dirty="0">
                          <a:effectLst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/</a:t>
                      </a:r>
                      <a:r>
                        <a:rPr lang="ko-KR" altLang="en-US" sz="1100" b="0" i="0" u="none" strike="noStrike" dirty="0">
                          <a:effectLst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전주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effectLst/>
                          <a:latin typeface="Arial Narrow" panose="020B0606020202030204" pitchFamily="34" charset="0"/>
                          <a:ea typeface="현대하모니 L" panose="02020603020101020101" pitchFamily="18" charset="-127"/>
                        </a:rPr>
                        <a:t>7,672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effectLst/>
                          <a:latin typeface="Arial Narrow" panose="020B0606020202030204" pitchFamily="34" charset="0"/>
                          <a:ea typeface="현대산스 Text" panose="020B0600000101010101" pitchFamily="50" charset="-127"/>
                        </a:rPr>
                        <a:t>4,950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b="0" i="0" u="none" strike="noStrike" dirty="0">
                          <a:effectLst/>
                          <a:latin typeface="Arial Narrow" panose="020B0606020202030204" pitchFamily="34" charset="0"/>
                          <a:ea typeface="현대하모니 L" panose="02020603020101020101" pitchFamily="18" charset="-127"/>
                        </a:rPr>
                        <a:t>645</a:t>
                      </a:r>
                      <a:r>
                        <a:rPr lang="ko-KR" altLang="en-US" sz="1100" b="0" i="0" u="none" strike="noStrike" dirty="0">
                          <a:effectLst/>
                          <a:latin typeface="Arial Narrow" panose="020B0606020202030204" pitchFamily="34" charset="0"/>
                          <a:ea typeface="현대하모니 L" panose="02020603020101020101" pitchFamily="18" charset="-127"/>
                        </a:rPr>
                        <a:t>                   </a:t>
                      </a:r>
                      <a:endParaRPr lang="en-US" altLang="ko-KR" sz="1100" b="0" i="0" u="none" strike="noStrike" dirty="0">
                        <a:effectLst/>
                        <a:latin typeface="Arial Narrow" panose="020B0606020202030204" pitchFamily="34" charset="0"/>
                        <a:ea typeface="현대하모니 L" panose="02020603020101020101" pitchFamily="18" charset="-127"/>
                      </a:endParaRPr>
                    </a:p>
                  </a:txBody>
                  <a:tcPr marL="9525" marR="3600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3,651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2,608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1,861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1,179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7787677"/>
                  </a:ext>
                </a:extLst>
              </a:tr>
              <a:tr h="23189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effectLst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기아 광명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effectLst/>
                          <a:latin typeface="Arial Narrow" panose="020B0606020202030204" pitchFamily="34" charset="0"/>
                          <a:ea typeface="현대하모니 L" panose="02020603020101020101" pitchFamily="18" charset="-127"/>
                        </a:rPr>
                        <a:t>15,698</a:t>
                      </a:r>
                      <a:r>
                        <a:rPr lang="ko-KR" altLang="en-US" sz="1100" b="0" i="0" u="none" strike="noStrike" dirty="0">
                          <a:effectLst/>
                          <a:latin typeface="Arial Narrow" panose="020B0606020202030204" pitchFamily="34" charset="0"/>
                          <a:ea typeface="현대하모니 L" panose="02020603020101020101" pitchFamily="18" charset="-127"/>
                        </a:rPr>
                        <a:t> </a:t>
                      </a:r>
                      <a:endParaRPr lang="en-US" altLang="ko-KR" sz="1100" b="0" i="0" u="none" strike="noStrike" dirty="0">
                        <a:effectLst/>
                        <a:latin typeface="Arial Narrow" panose="020B0606020202030204" pitchFamily="34" charset="0"/>
                        <a:ea typeface="현대하모니 L" panose="02020603020101020101" pitchFamily="18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effectLst/>
                          <a:latin typeface="Arial Narrow" panose="020B0606020202030204" pitchFamily="34" charset="0"/>
                          <a:ea typeface="현대산스 Text" panose="020B0600000101010101" pitchFamily="50" charset="-127"/>
                        </a:rPr>
                        <a:t>4,119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b="0" i="0" u="none" strike="noStrike" dirty="0">
                          <a:effectLst/>
                          <a:latin typeface="Arial Narrow" panose="020B0606020202030204" pitchFamily="34" charset="0"/>
                          <a:ea typeface="현대하모니 L" panose="02020603020101020101" pitchFamily="18" charset="-127"/>
                        </a:rPr>
                        <a:t>262</a:t>
                      </a:r>
                      <a:r>
                        <a:rPr lang="ko-KR" altLang="en-US" sz="1100" b="0" i="0" u="none" strike="noStrike" dirty="0">
                          <a:effectLst/>
                          <a:latin typeface="Arial Narrow" panose="020B0606020202030204" pitchFamily="34" charset="0"/>
                          <a:ea typeface="현대하모니 L" panose="02020603020101020101" pitchFamily="18" charset="-127"/>
                        </a:rPr>
                        <a:t>                      </a:t>
                      </a:r>
                      <a:r>
                        <a:rPr lang="en-US" altLang="ko-KR" sz="1100" b="0" i="0" u="none" strike="noStrike" dirty="0">
                          <a:effectLst/>
                          <a:latin typeface="Arial Narrow" panose="020B0606020202030204" pitchFamily="34" charset="0"/>
                          <a:ea typeface="현대하모니 L" panose="02020603020101020101" pitchFamily="18" charset="-127"/>
                        </a:rPr>
                        <a:t> </a:t>
                      </a:r>
                    </a:p>
                  </a:txBody>
                  <a:tcPr marL="9525" marR="3600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2,889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2,286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2,224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2,412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9392286"/>
                  </a:ext>
                </a:extLst>
              </a:tr>
              <a:tr h="23189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effectLst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현대 아산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effectLst/>
                          <a:latin typeface="Arial Narrow" panose="020B0606020202030204" pitchFamily="34" charset="0"/>
                          <a:ea typeface="현대하모니 L" panose="02020603020101020101" pitchFamily="18" charset="-127"/>
                        </a:rPr>
                        <a:t>42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effectLst/>
                          <a:latin typeface="Arial Narrow" panose="020B0606020202030204" pitchFamily="34" charset="0"/>
                          <a:ea typeface="현대산스 Text" panose="020B0600000101010101" pitchFamily="50" charset="-127"/>
                        </a:rPr>
                        <a:t>254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b="0" i="0" u="none" strike="noStrike" dirty="0">
                          <a:effectLst/>
                          <a:latin typeface="Arial Narrow" panose="020B0606020202030204" pitchFamily="34" charset="0"/>
                          <a:ea typeface="현대하모니 L" panose="02020603020101020101" pitchFamily="18" charset="-127"/>
                        </a:rPr>
                        <a:t>6,048</a:t>
                      </a:r>
                      <a:r>
                        <a:rPr lang="ko-KR" altLang="en-US" sz="1100" b="0" i="0" u="none" strike="noStrike" dirty="0">
                          <a:effectLst/>
                          <a:latin typeface="Arial Narrow" panose="020B0606020202030204" pitchFamily="34" charset="0"/>
                          <a:ea typeface="현대하모니 L" panose="02020603020101020101" pitchFamily="18" charset="-127"/>
                        </a:rPr>
                        <a:t>                   </a:t>
                      </a:r>
                      <a:endParaRPr lang="en-US" altLang="ko-KR" sz="1100" b="0" i="0" u="none" strike="noStrike" dirty="0">
                        <a:effectLst/>
                        <a:latin typeface="Arial Narrow" panose="020B0606020202030204" pitchFamily="34" charset="0"/>
                        <a:ea typeface="현대하모니 L" panose="02020603020101020101" pitchFamily="18" charset="-127"/>
                      </a:endParaRPr>
                    </a:p>
                  </a:txBody>
                  <a:tcPr marL="9525" marR="3600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593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487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476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455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7584877"/>
                  </a:ext>
                </a:extLst>
              </a:tr>
              <a:tr h="23189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 err="1">
                          <a:effectLst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포레시아</a:t>
                      </a:r>
                      <a:r>
                        <a:rPr lang="ko-KR" altLang="en-US" sz="1100" b="0" i="0" u="none" strike="noStrike" dirty="0">
                          <a:effectLst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 장안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effectLst/>
                          <a:latin typeface="Arial Narrow" panose="020B0606020202030204" pitchFamily="34" charset="0"/>
                          <a:ea typeface="현대하모니 L" panose="02020603020101020101" pitchFamily="18" charset="-127"/>
                        </a:rPr>
                        <a:t>9,759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effectLst/>
                          <a:latin typeface="Arial Narrow" panose="020B0606020202030204" pitchFamily="34" charset="0"/>
                          <a:ea typeface="현대산스 Text" panose="020B0600000101010101" pitchFamily="50" charset="-127"/>
                        </a:rPr>
                        <a:t>2,060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b="0" i="0" u="none" strike="noStrike" dirty="0">
                          <a:effectLst/>
                          <a:latin typeface="Arial Narrow" panose="020B0606020202030204" pitchFamily="34" charset="0"/>
                          <a:ea typeface="현대하모니 L" panose="02020603020101020101" pitchFamily="18" charset="-127"/>
                        </a:rPr>
                        <a:t>264</a:t>
                      </a:r>
                    </a:p>
                  </a:txBody>
                  <a:tcPr marL="9525" marR="3600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887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722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640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698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3218075"/>
                  </a:ext>
                </a:extLst>
              </a:tr>
              <a:tr h="23189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effectLst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당진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effectLst/>
                          <a:latin typeface="Arial Narrow" panose="020B0606020202030204" pitchFamily="34" charset="0"/>
                          <a:ea typeface="현대하모니 L" panose="02020603020101020101" pitchFamily="18" charset="-127"/>
                        </a:rPr>
                        <a:t>14,928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effectLst/>
                          <a:latin typeface="Arial Narrow" panose="020B0606020202030204" pitchFamily="34" charset="0"/>
                          <a:ea typeface="현대산스 Text" panose="020B0600000101010101" pitchFamily="50" charset="-127"/>
                        </a:rPr>
                        <a:t>3,059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b="0" i="0" u="none" strike="noStrike" dirty="0">
                          <a:effectLst/>
                          <a:latin typeface="Arial Narrow" panose="020B0606020202030204" pitchFamily="34" charset="0"/>
                          <a:ea typeface="현대하모니 L" panose="02020603020101020101" pitchFamily="18" charset="-127"/>
                        </a:rPr>
                        <a:t>205</a:t>
                      </a:r>
                      <a:r>
                        <a:rPr lang="ko-KR" altLang="en-US" sz="1100" b="0" i="0" u="none" strike="noStrike" dirty="0">
                          <a:effectLst/>
                          <a:latin typeface="Arial Narrow" panose="020B0606020202030204" pitchFamily="34" charset="0"/>
                          <a:ea typeface="현대하모니 L" panose="02020603020101020101" pitchFamily="18" charset="-127"/>
                        </a:rPr>
                        <a:t>                 </a:t>
                      </a:r>
                      <a:endParaRPr lang="en-US" altLang="ko-KR" sz="1100" b="0" i="0" u="none" strike="noStrike" dirty="0">
                        <a:effectLst/>
                        <a:latin typeface="Arial Narrow" panose="020B0606020202030204" pitchFamily="34" charset="0"/>
                        <a:ea typeface="현대하모니 L" panose="02020603020101020101" pitchFamily="18" charset="-127"/>
                      </a:endParaRPr>
                    </a:p>
                  </a:txBody>
                  <a:tcPr marL="9525" marR="3600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3,742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3,696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3,552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3,475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6747379"/>
                  </a:ext>
                </a:extLst>
              </a:tr>
              <a:tr h="23189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 err="1">
                          <a:effectLst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위아</a:t>
                      </a:r>
                      <a:r>
                        <a:rPr lang="ko-KR" altLang="en-US" sz="1100" b="0" i="0" u="none" strike="noStrike" dirty="0">
                          <a:effectLst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 서산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effectLst/>
                          <a:latin typeface="Arial Narrow" panose="020B0606020202030204" pitchFamily="34" charset="0"/>
                          <a:ea typeface="현대하모니 L" panose="02020603020101020101" pitchFamily="18" charset="-127"/>
                        </a:rPr>
                        <a:t>6,321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effectLst/>
                          <a:latin typeface="Arial Narrow" panose="020B0606020202030204" pitchFamily="34" charset="0"/>
                          <a:ea typeface="현대산스 Text" panose="020B0600000101010101" pitchFamily="50" charset="-127"/>
                        </a:rPr>
                        <a:t>3,654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b="0" i="0" u="none" strike="noStrike" dirty="0">
                          <a:effectLst/>
                          <a:latin typeface="Arial Narrow" panose="020B0606020202030204" pitchFamily="34" charset="0"/>
                          <a:ea typeface="현대하모니 L" panose="02020603020101020101" pitchFamily="18" charset="-127"/>
                        </a:rPr>
                        <a:t>578</a:t>
                      </a:r>
                    </a:p>
                  </a:txBody>
                  <a:tcPr marL="9525" marR="3600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5,075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4,539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4,517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4,771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332937"/>
                  </a:ext>
                </a:extLst>
              </a:tr>
              <a:tr h="23189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 err="1">
                          <a:effectLst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위아</a:t>
                      </a:r>
                      <a:r>
                        <a:rPr lang="ko-KR" altLang="en-US" sz="1100" b="0" i="0" u="none" strike="noStrike" dirty="0">
                          <a:effectLst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 평택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effectLst/>
                          <a:latin typeface="Arial Narrow" panose="020B0606020202030204" pitchFamily="34" charset="0"/>
                          <a:ea typeface="현대하모니 L" panose="02020603020101020101" pitchFamily="18" charset="-127"/>
                        </a:rPr>
                        <a:t>2,760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effectLst/>
                          <a:latin typeface="Arial Narrow" panose="020B0606020202030204" pitchFamily="34" charset="0"/>
                          <a:ea typeface="현대산스 Text" panose="020B0600000101010101" pitchFamily="50" charset="-127"/>
                        </a:rPr>
                        <a:t>848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b="0" i="0" u="none" strike="noStrike" dirty="0">
                          <a:effectLst/>
                          <a:latin typeface="Arial Narrow" panose="020B0606020202030204" pitchFamily="34" charset="0"/>
                          <a:ea typeface="현대하모니 L" panose="02020603020101020101" pitchFamily="18" charset="-127"/>
                        </a:rPr>
                        <a:t>307</a:t>
                      </a:r>
                    </a:p>
                  </a:txBody>
                  <a:tcPr marL="9525" marR="3600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1,837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2,244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2,359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2,482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9039302"/>
                  </a:ext>
                </a:extLst>
              </a:tr>
              <a:tr h="23189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 err="1">
                          <a:effectLst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포레시아</a:t>
                      </a:r>
                      <a:r>
                        <a:rPr lang="ko-KR" altLang="en-US" sz="1100" b="0" i="0" u="none" strike="noStrike" dirty="0">
                          <a:effectLst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 영천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effectLst/>
                          <a:latin typeface="Arial Narrow" panose="020B0606020202030204" pitchFamily="34" charset="0"/>
                          <a:ea typeface="현대하모니 L" panose="02020603020101020101" pitchFamily="18" charset="-127"/>
                        </a:rPr>
                        <a:t>16,746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effectLst/>
                          <a:latin typeface="Arial Narrow" panose="020B0606020202030204" pitchFamily="34" charset="0"/>
                          <a:ea typeface="현대산스 Text" panose="020B0600000101010101" pitchFamily="50" charset="-127"/>
                        </a:rPr>
                        <a:t>7,150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b="0" i="0" u="none" strike="noStrike" dirty="0">
                          <a:effectLst/>
                          <a:latin typeface="Arial Narrow" panose="020B0606020202030204" pitchFamily="34" charset="0"/>
                          <a:ea typeface="현대하모니 L" panose="02020603020101020101" pitchFamily="18" charset="-127"/>
                        </a:rPr>
                        <a:t>427</a:t>
                      </a:r>
                      <a:r>
                        <a:rPr lang="ko-KR" altLang="en-US" sz="1100" b="0" i="0" u="none" strike="noStrike" dirty="0">
                          <a:effectLst/>
                          <a:latin typeface="Arial Narrow" panose="020B0606020202030204" pitchFamily="34" charset="0"/>
                          <a:ea typeface="현대하모니 L" panose="02020603020101020101" pitchFamily="18" charset="-127"/>
                        </a:rPr>
                        <a:t>               </a:t>
                      </a:r>
                      <a:endParaRPr lang="en-US" altLang="ko-KR" sz="1100" b="0" i="0" u="none" strike="noStrike" dirty="0">
                        <a:effectLst/>
                        <a:latin typeface="Arial Narrow" panose="020B0606020202030204" pitchFamily="34" charset="0"/>
                        <a:ea typeface="현대하모니 L" panose="02020603020101020101" pitchFamily="18" charset="-127"/>
                      </a:endParaRPr>
                    </a:p>
                  </a:txBody>
                  <a:tcPr marL="9525" marR="3600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7,327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7,488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7,659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8,124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2516317"/>
                  </a:ext>
                </a:extLst>
              </a:tr>
              <a:tr h="23189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effectLst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세종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effectLst/>
                          <a:latin typeface="Arial Narrow" panose="020B0606020202030204" pitchFamily="34" charset="0"/>
                          <a:ea typeface="현대하모니 L" panose="02020603020101020101" pitchFamily="18" charset="-127"/>
                        </a:rPr>
                        <a:t>15,550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effectLst/>
                          <a:latin typeface="Arial Narrow" panose="020B0606020202030204" pitchFamily="34" charset="0"/>
                          <a:ea typeface="현대산스 Text" panose="020B0600000101010101" pitchFamily="50" charset="-127"/>
                        </a:rPr>
                        <a:t>8,630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b="0" i="0" u="none" strike="noStrike" dirty="0">
                          <a:effectLst/>
                          <a:latin typeface="Arial Narrow" panose="020B0606020202030204" pitchFamily="34" charset="0"/>
                          <a:ea typeface="현대하모니 L" panose="02020603020101020101" pitchFamily="18" charset="-127"/>
                        </a:rPr>
                        <a:t>555</a:t>
                      </a:r>
                    </a:p>
                  </a:txBody>
                  <a:tcPr marL="9525" marR="3600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4,828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5,035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5,735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5,924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8875664"/>
                  </a:ext>
                </a:extLst>
              </a:tr>
              <a:tr h="23189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effectLst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 현대 울산 </a:t>
                      </a:r>
                      <a:r>
                        <a:rPr lang="en-US" altLang="ko-KR" sz="1100" b="0" i="0" u="none" strike="noStrike" dirty="0">
                          <a:effectLst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(</a:t>
                      </a:r>
                      <a:r>
                        <a:rPr lang="ko-KR" altLang="en-US" sz="1100" b="0" i="0" u="none" strike="noStrike" dirty="0" err="1">
                          <a:effectLst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카파개선</a:t>
                      </a:r>
                      <a:r>
                        <a:rPr lang="ko-KR" altLang="en-US" sz="1100" b="0" i="0" u="none" strike="noStrike" dirty="0">
                          <a:effectLst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 </a:t>
                      </a:r>
                      <a:r>
                        <a:rPr lang="en-US" altLang="ko-KR" sz="1100" b="0" i="0" u="none" strike="noStrike" dirty="0">
                          <a:effectLst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1.6)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effectLst/>
                          <a:latin typeface="Arial Narrow" panose="020B0606020202030204" pitchFamily="34" charset="0"/>
                          <a:ea typeface="현대하모니 L" panose="02020603020101020101" pitchFamily="18" charset="-127"/>
                        </a:rPr>
                        <a:t>7,468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effectLst/>
                          <a:latin typeface="Arial Narrow" panose="020B0606020202030204" pitchFamily="34" charset="0"/>
                          <a:ea typeface="현대산스 Text" panose="020B0600000101010101" pitchFamily="50" charset="-127"/>
                        </a:rPr>
                        <a:t>5,564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b="0" i="0" u="none" strike="noStrike" dirty="0">
                          <a:effectLst/>
                          <a:latin typeface="Arial Narrow" panose="020B0606020202030204" pitchFamily="34" charset="0"/>
                          <a:ea typeface="현대하모니 L" panose="02020603020101020101" pitchFamily="18" charset="-127"/>
                        </a:rPr>
                        <a:t>745</a:t>
                      </a:r>
                    </a:p>
                  </a:txBody>
                  <a:tcPr marL="9525" marR="3600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3,963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4,514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3,849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3,401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3442931"/>
                  </a:ext>
                </a:extLst>
              </a:tr>
              <a:tr h="23189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effectLst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 비정규 운반비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effectLst/>
                          <a:latin typeface="Arial Narrow" panose="020B0606020202030204" pitchFamily="34" charset="0"/>
                          <a:ea typeface="현대산스 Text" panose="020B0600000101010101" pitchFamily="50" charset="-127"/>
                        </a:rPr>
                        <a:t>2,450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r" fontAlgn="ctr"/>
                      <a:endParaRPr lang="ko-KR" altLang="en-US" sz="1100" b="0" i="0" u="none" strike="noStrike" dirty="0">
                        <a:effectLst/>
                        <a:latin typeface="Arial Narrow" panose="020B0606020202030204" pitchFamily="34" charset="0"/>
                        <a:ea typeface="현대산스 Text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2,220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2,052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2,047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굴림체" panose="020B0609000101010101" pitchFamily="49" charset="-127"/>
                        </a:rPr>
                        <a:t>2,092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8367627"/>
                  </a:ext>
                </a:extLst>
              </a:tr>
              <a:tr h="23189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effectLst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 합계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1" i="0" u="none" strike="noStrike" dirty="0">
                          <a:effectLst/>
                          <a:latin typeface="Arial Narrow" panose="020B0606020202030204" pitchFamily="34" charset="0"/>
                          <a:ea typeface="현대산스 Text" panose="020B0600000101010101" pitchFamily="50" charset="-127"/>
                        </a:rPr>
                        <a:t>108,328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1" i="0" u="none" strike="noStrike" dirty="0">
                          <a:effectLst/>
                          <a:latin typeface="Arial Narrow" panose="020B0606020202030204" pitchFamily="34" charset="0"/>
                          <a:ea typeface="현대산스 Text" panose="020B0600000101010101" pitchFamily="50" charset="-127"/>
                        </a:rPr>
                        <a:t>47,205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현대산스 Text" panose="020B0600000101010101" pitchFamily="50" charset="-127"/>
                        </a:rPr>
                        <a:t>41,350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현대산스 Text" panose="020B0600000101010101" pitchFamily="50" charset="-127"/>
                        </a:rPr>
                        <a:t>39,248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현대산스 Text" panose="020B0600000101010101" pitchFamily="50" charset="-127"/>
                        </a:rPr>
                        <a:t>38,335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현대산스 Text" panose="020B0600000101010101" pitchFamily="50" charset="-127"/>
                        </a:rPr>
                        <a:t>38,073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2965414"/>
                  </a:ext>
                </a:extLst>
              </a:tr>
              <a:tr h="23189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effectLst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 총 대당 운반비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r" fontAlgn="ctr"/>
                      <a:r>
                        <a:rPr lang="en-US" altLang="ko-KR" sz="1100" b="1" i="0" u="none" strike="noStrike" dirty="0">
                          <a:effectLst/>
                          <a:latin typeface="Arial Narrow" panose="020B0606020202030204" pitchFamily="34" charset="0"/>
                          <a:ea typeface="현대산스 Text" panose="020B0600000101010101" pitchFamily="50" charset="-127"/>
                        </a:rPr>
                        <a:t>436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5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현대산스 Text" panose="020B0600000101010101" pitchFamily="50" charset="-127"/>
                        </a:rPr>
                        <a:t>425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5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현대산스 Text" panose="020B0600000101010101" pitchFamily="50" charset="-127"/>
                        </a:rPr>
                        <a:t>435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5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현대산스 Text" panose="020B0600000101010101" pitchFamily="50" charset="-127"/>
                        </a:rPr>
                        <a:t>462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5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현대산스 Text" panose="020B0600000101010101" pitchFamily="50" charset="-127"/>
                        </a:rPr>
                        <a:t>460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8098923"/>
                  </a:ext>
                </a:extLst>
              </a:tr>
              <a:tr h="23189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매출액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r" fontAlgn="ctr"/>
                      <a:r>
                        <a:rPr lang="en-US" altLang="ko-KR" sz="1100" b="1" i="0" u="none" strike="noStrike" dirty="0">
                          <a:effectLst/>
                          <a:latin typeface="Arial Narrow" panose="020B0606020202030204" pitchFamily="34" charset="0"/>
                          <a:ea typeface="현대산스 Text" panose="020B0600000101010101" pitchFamily="50" charset="-127"/>
                        </a:rPr>
                        <a:t>5,236,425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5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현대산스 Text" panose="020B0600000101010101" pitchFamily="50" charset="-127"/>
                        </a:rPr>
                        <a:t>4,140,075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5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현대산스 Text" panose="020B0600000101010101" pitchFamily="50" charset="-127"/>
                        </a:rPr>
                        <a:t>3,977,794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5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현대산스 Text" panose="020B0600000101010101" pitchFamily="50" charset="-127"/>
                        </a:rPr>
                        <a:t>3,797,858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5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현대산스 Text" panose="020B0600000101010101" pitchFamily="50" charset="-127"/>
                        </a:rPr>
                        <a:t>3,869,770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0413561"/>
                  </a:ext>
                </a:extLst>
              </a:tr>
              <a:tr h="22358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매출액 대비 운반비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r" fontAlgn="ctr"/>
                      <a:r>
                        <a:rPr lang="en-US" altLang="ko-KR" sz="1100" b="1" i="0" u="none" strike="noStrike" dirty="0">
                          <a:effectLst/>
                          <a:latin typeface="Arial Narrow" panose="020B0606020202030204" pitchFamily="34" charset="0"/>
                          <a:ea typeface="현대산스 Text" panose="020B0600000101010101" pitchFamily="50" charset="-127"/>
                        </a:rPr>
                        <a:t>0.9%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5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현대산스 Text" panose="020B0600000101010101" pitchFamily="50" charset="-127"/>
                        </a:rPr>
                        <a:t>1.1%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5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현대산스 Text" panose="020B0600000101010101" pitchFamily="50" charset="-127"/>
                        </a:rPr>
                        <a:t>1.0%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5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현대산스 Text" panose="020B0600000101010101" pitchFamily="50" charset="-127"/>
                        </a:rPr>
                        <a:t>1.0%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5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현대산스 Text" panose="020B0600000101010101" pitchFamily="50" charset="-127"/>
                        </a:rPr>
                        <a:t>1.0%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0727310"/>
                  </a:ext>
                </a:extLst>
              </a:tr>
            </a:tbl>
          </a:graphicData>
        </a:graphic>
      </p:graphicFrame>
      <p:sp>
        <p:nvSpPr>
          <p:cNvPr id="10" name="Text Box 2"/>
          <p:cNvSpPr txBox="1">
            <a:spLocks noChangeArrowheads="1"/>
          </p:cNvSpPr>
          <p:nvPr/>
        </p:nvSpPr>
        <p:spPr bwMode="auto">
          <a:xfrm>
            <a:off x="8955956" y="436342"/>
            <a:ext cx="1043879" cy="2515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2000" tIns="0" rIns="0" bIns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1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현대산스 Head Light" panose="020B0600000101010101" pitchFamily="50" charset="-127"/>
                <a:ea typeface="현대산스 Head Light" panose="020B0600000101010101" pitchFamily="50" charset="-127"/>
              </a:rPr>
              <a:t>2026.9.1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9458" y="715183"/>
            <a:ext cx="92271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현대산스 Text" panose="020B0600000101010101" pitchFamily="50" charset="-127"/>
                <a:ea typeface="현대산스 Text" panose="020B0600000101010101" pitchFamily="50" charset="-127"/>
              </a:rPr>
              <a:t>단위 </a:t>
            </a:r>
            <a:r>
              <a:rPr lang="en-US" altLang="ko-KR" sz="1000" dirty="0">
                <a:latin typeface="현대산스 Text" panose="020B0600000101010101" pitchFamily="50" charset="-127"/>
                <a:ea typeface="현대산스 Text" panose="020B0600000101010101" pitchFamily="50" charset="-127"/>
              </a:rPr>
              <a:t>: EA/</a:t>
            </a:r>
            <a:r>
              <a:rPr lang="ko-KR" altLang="en-US" sz="1000" dirty="0">
                <a:latin typeface="현대산스 Text" panose="020B0600000101010101" pitchFamily="50" charset="-127"/>
                <a:ea typeface="현대산스 Text" panose="020B0600000101010101" pitchFamily="50" charset="-127"/>
              </a:rPr>
              <a:t>천원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기본 디자인">
  <a:themeElements>
    <a:clrScheme name="1_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itchFamily="50" charset="-127"/>
            <a:ea typeface="굴림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itchFamily="50" charset="-127"/>
            <a:ea typeface="굴림" pitchFamily="50" charset="-127"/>
          </a:defRPr>
        </a:defPPr>
      </a:lstStyle>
    </a:lnDef>
  </a:objectDefaults>
  <a:extraClrSchemeLst>
    <a:extraClrScheme>
      <a:clrScheme name="1_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34231</TotalTime>
  <Words>922</Words>
  <Application>Microsoft Office PowerPoint</Application>
  <PresentationFormat>A4 용지(210x297mm)</PresentationFormat>
  <Paragraphs>535</Paragraphs>
  <Slides>6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3" baseType="lpstr">
      <vt:lpstr>굴림</vt:lpstr>
      <vt:lpstr>현대산스 Head</vt:lpstr>
      <vt:lpstr>현대산스 Head Light</vt:lpstr>
      <vt:lpstr>현대산스 Text</vt:lpstr>
      <vt:lpstr>현대하모니 M</vt:lpstr>
      <vt:lpstr>Arial Narrow</vt:lpstr>
      <vt:lpstr>1_기본 디자인</vt:lpstr>
      <vt:lpstr>PowerPoint 프레젠테이션</vt:lpstr>
      <vt:lpstr>▣ 26년 8월 운반비 종합</vt:lpstr>
      <vt:lpstr>▣ 12개월 납품수량 월계획 대비 실적</vt:lpstr>
      <vt:lpstr>▣ 12개월 운반비 월계획 대비 실적</vt:lpstr>
      <vt:lpstr>▣ 12개월 실적</vt:lpstr>
      <vt:lpstr>▣ 26년 8월 운반비 계획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HMC</dc:creator>
  <cp:lastModifiedBy>임준희</cp:lastModifiedBy>
  <cp:revision>2205</cp:revision>
  <cp:lastPrinted>2026-03-11T08:01:33Z</cp:lastPrinted>
  <dcterms:created xsi:type="dcterms:W3CDTF">2011-05-30T05:23:27Z</dcterms:created>
  <dcterms:modified xsi:type="dcterms:W3CDTF">2026-09-01T03:43:12Z</dcterms:modified>
</cp:coreProperties>
</file>